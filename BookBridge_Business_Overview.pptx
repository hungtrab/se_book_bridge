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2D6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0F0F0F"/>
                </a:solidFill>
              </a:rPr>
              <a:t>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548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BookBridge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08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FD7FF"/>
                </a:solidFill>
              </a:rPr>
              <a:t>Share books. Build trust. Keep stories moving.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7FF"/>
                </a:solidFill>
              </a:rPr>
              <a:t>Business Overview  ·  Team Zootopia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200400"/>
            <a:ext cx="12188952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A community-driven platform for second-hand book sharing among students and local readers.
Built on trust, reputation, and real connections — not transaction fees.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80560"/>
            <a:ext cx="2468880" cy="1051560"/>
          </a:xfrm>
          <a:prstGeom prst="rect">
            <a:avLst/>
          </a:prstGeom>
          <a:solidFill>
            <a:srgbClr val="E8F0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6DB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5010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Transaction Types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480560"/>
            <a:ext cx="2468880" cy="1051560"/>
          </a:xfrm>
          <a:prstGeom prst="rect">
            <a:avLst/>
          </a:prstGeom>
          <a:solidFill>
            <a:srgbClr val="E8F0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45262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6DB"/>
                </a:solidFill>
              </a:rPr>
              <a:t>8+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010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Core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4480560"/>
            <a:ext cx="2468880" cy="1051560"/>
          </a:xfrm>
          <a:prstGeom prst="rect">
            <a:avLst/>
          </a:prstGeom>
          <a:solidFill>
            <a:srgbClr val="E8F0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5262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6DB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010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User Roles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4480560"/>
            <a:ext cx="2468880" cy="1051560"/>
          </a:xfrm>
          <a:prstGeom prst="rect">
            <a:avLst/>
          </a:prstGeom>
          <a:solidFill>
            <a:srgbClr val="E8F0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45262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6DB"/>
                </a:solidFill>
              </a:rPr>
              <a:t>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5010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Stories Shared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8C8"/>
                </a:solidFill>
              </a:rPr>
              <a:t>BookBridge  ·  Confidential Business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8C8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</a:rPr>
              <a:t>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Why BookBridge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725912" cy="228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65176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6DB"/>
                </a:solidFill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Books Go to Waste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2140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Millions of textbooks sit unused after each semester. Students have no easy, trusted channel to pass them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143000"/>
            <a:ext cx="265176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6DB"/>
                </a:solidFill>
              </a:rPr>
              <a:t>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7556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High Cost of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2140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New textbooks are prohibitively expensive. Students need affordable access — gift, exchange, or low-cost resale.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43000"/>
            <a:ext cx="265176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6DB"/>
                </a:solidFill>
              </a:rPr>
              <a:t>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7556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No Trust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2140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Generic marketplaces lack the reputation layer needed for peer-to-peer book sharing within academic communities.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143000"/>
            <a:ext cx="265176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6DB"/>
                </a:solidFill>
              </a:rPr>
              <a:t>🏘️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7556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Community Disconnect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12140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University and neighborhood reading communities have no dedicated space to share, discuss, and discover books together.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39"/>
            <a:ext cx="1124712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22191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</a:rPr>
              <a:t>💡  BookBridge is the answer: a trusted social network for book circulation — scoped to universities, locations, and reading communities.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8C8"/>
                </a:solidFill>
              </a:rPr>
              <a:t>BookBridge  ·  Confidential Business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8C8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What BookBridge is —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725912" cy="228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788920" cy="3474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978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</a:rPr>
              <a:t>📖  Book Listings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45336"/>
            <a:ext cx="2578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Gift · Exchange · Sell with condition ratings, photos, and community scoping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1430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143000"/>
            <a:ext cx="2788920" cy="3474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1978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</a:rPr>
              <a:t>🔍 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545336"/>
            <a:ext cx="2578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Full-text search by title, author, ISBN + personalized feed via social follows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1430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143000"/>
            <a:ext cx="2788920" cy="3474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978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</a:rPr>
              <a:t>🔄  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45336"/>
            <a:ext cx="2578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End-to-end state machine: request → accept → deliver → complete →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864" y="11430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98864" y="1143000"/>
            <a:ext cx="2788920" cy="3474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2" y="11978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</a:rPr>
              <a:t>💬  Messaging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1545336"/>
            <a:ext cx="2578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Real-time 1-to-1 chat, optionally tied to a transaction thread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6324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063240"/>
            <a:ext cx="2788920" cy="3474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118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</a:rPr>
              <a:t>⭐  Reputation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3465576"/>
            <a:ext cx="2578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Atomic score events — positive for completions &amp; contributions, negative for disputes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06324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0128" y="3063240"/>
            <a:ext cx="2788920" cy="3474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9856" y="3118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</a:rPr>
              <a:t>🏘️  Communities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9856" y="3465576"/>
            <a:ext cx="2578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University, location, and genre sub-communities with posts, likes, and leaderboards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4496" y="306324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4496" y="3063240"/>
            <a:ext cx="2788920" cy="3474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3118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</a:rPr>
              <a:t>🔔  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3465576"/>
            <a:ext cx="2578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In-app &amp; email alerts for listings, transactions, messages, and community activity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98864" y="306324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98864" y="3063240"/>
            <a:ext cx="2788920" cy="3474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8592" y="3118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</a:rPr>
              <a:t>🛡️  Moderation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3465576"/>
            <a:ext cx="2578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Report queue with structured actions: warn, remove, suspend, resolve dispute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8C8"/>
                </a:solidFill>
              </a:rPr>
              <a:t>BookBridge  ·  Confidential Business Overview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8C8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</a:rPr>
              <a:t>Core Transaction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How a book moves from one reader to the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725912" cy="228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261872" cy="4754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4300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1.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2344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91640"/>
            <a:ext cx="1261872" cy="1554480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737360"/>
            <a:ext cx="1152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Seller creates a listing: type, condition, photos, price (if selling)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69364" y="1097280"/>
            <a:ext cx="1261872" cy="4754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3372" y="114300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2. 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1236" y="12344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69364" y="1691640"/>
            <a:ext cx="1261872" cy="1554480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33372" y="1737360"/>
            <a:ext cx="1152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Buyer finds via search, feed, or community browse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1097280"/>
            <a:ext cx="1261872" cy="4754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82696" y="114300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3.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2344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18688" y="1691640"/>
            <a:ext cx="1261872" cy="1554480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82696" y="1737360"/>
            <a:ext cx="1152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Buyer sends transaction request → status: Pending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8012" y="1097280"/>
            <a:ext cx="1261872" cy="4754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2020" y="114300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4. Accept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9883" y="12344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8012" y="1691640"/>
            <a:ext cx="1261872" cy="1554480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2020" y="1737360"/>
            <a:ext cx="1152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Seller accepts (or waitlists/declines) → listing Reserved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336" y="1097280"/>
            <a:ext cx="1261872" cy="4754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114300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5. 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9208" y="12344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17336" y="1691640"/>
            <a:ext cx="1261872" cy="1554480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81344" y="1737360"/>
            <a:ext cx="1152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Auto-opened conversation thread for coordination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66660" y="1097280"/>
            <a:ext cx="1261872" cy="4754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0668" y="114300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6. Deliver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8532" y="12344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66660" y="1691640"/>
            <a:ext cx="1261872" cy="1554480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0668" y="1737360"/>
            <a:ext cx="1152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In-person or postal; seller marks shipped + tracking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15984" y="1097280"/>
            <a:ext cx="1261872" cy="4754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9992" y="114300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7. Complete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77855" y="12344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6DB"/>
                </a:solidFill>
              </a:rPr>
              <a:t>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15984" y="1691640"/>
            <a:ext cx="1261872" cy="1554480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79992" y="1737360"/>
            <a:ext cx="1152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Buyer confirms receipt → status: Completed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65307" y="1097280"/>
            <a:ext cx="1261872" cy="47548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29315" y="114300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8. Rate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65307" y="1691640"/>
            <a:ext cx="1261872" cy="1554480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29315" y="1737360"/>
            <a:ext cx="1152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Mutual star ratings update both parties' reputation scores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429000"/>
            <a:ext cx="114300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3611880"/>
            <a:ext cx="539496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639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24E00"/>
                </a:solidFill>
              </a:rPr>
              <a:t>⚠️  Dispute 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39136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Either party can raise a dispute at any point. A moderator reviews and resolves or rejects via a structured ModerationAction.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611880"/>
            <a:ext cx="557784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3639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F46"/>
                </a:solidFill>
              </a:rPr>
              <a:t>✅  Reputation Impact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9136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Completion awards positive reputation delta to both buyer and seller. Disputes and cancellations carry negative deltas.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8C8"/>
                </a:solidFill>
              </a:rPr>
              <a:t>BookBridge  ·  Confidential Business Overview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8C8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</a:rPr>
              <a:t>Trust &amp; Reputation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The engine that makes peer-to-peer sharing 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725912" cy="228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035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093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Transaction 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66543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Rating received (1–5 stars)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871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237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Community contribution (mod-awarded)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443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809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Dispute upheld against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015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4381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Cancellation penalty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587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8953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Periodic time decay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159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525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Report upheld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097280"/>
            <a:ext cx="54406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170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Reputation Tiers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1627632"/>
            <a:ext cx="4983480" cy="749808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7373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0F0F"/>
                </a:solidFill>
              </a:rPr>
              <a:t>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719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19933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Starting tier — building first impressions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542032"/>
            <a:ext cx="4983480" cy="749808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6517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0F0F"/>
                </a:solidFill>
              </a:rPr>
              <a:t>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633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Trusted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29077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Consistent completions, positive ratings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456432"/>
            <a:ext cx="4983480" cy="749808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5661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0F0F"/>
                </a:solidFill>
              </a:rPr>
              <a:t>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547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Reliable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8221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Strong track record, low dispute rate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4370832"/>
            <a:ext cx="4983480" cy="749808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4805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0F0F"/>
                </a:solidFill>
              </a:rPr>
              <a:t>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462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Veteran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7365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Top tier — community pillar, unlocks trust signals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8C8"/>
                </a:solidFill>
              </a:rPr>
              <a:t>BookBridge  ·  Confidential Business Overview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8C8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</a:rPr>
              <a:t>Communities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Scoped sub-networks for universities, locations, and genres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725912" cy="228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566160" cy="1645920"/>
          </a:xfrm>
          <a:prstGeom prst="rect">
            <a:avLst/>
          </a:prstGeom>
          <a:solidFill>
            <a:srgbClr val="E8F0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56DB"/>
                </a:solidFill>
              </a:rPr>
              <a:t>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234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HUST, UET, RMIT…
Closed academic circles for textbook sharing within a campus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566160" cy="1645920"/>
          </a:xfrm>
          <a:prstGeom prst="rect">
            <a:avLst/>
          </a:prstGeom>
          <a:solidFill>
            <a:srgbClr val="E8F0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56DB"/>
                </a:solidFill>
              </a:rPr>
              <a:t>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234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002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District, city, or neighbourhood groups — perfect for local book swaps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097280"/>
            <a:ext cx="3566160" cy="1645920"/>
          </a:xfrm>
          <a:prstGeom prst="rect">
            <a:avLst/>
          </a:prstGeom>
          <a:solidFill>
            <a:srgbClr val="E8F0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56DB"/>
                </a:solidFill>
              </a:rP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2344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Genre / Interest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002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Non-fiction, Sci-fi, Vietnamese Literature — passion-driven reading circles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1089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Public &amp; Private modes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419856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Private communities require an invite code — perfect for closed reading clubs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01752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1089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Community Posts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419856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Members post discussions; posts can be liked, commented on, and pinned by moderators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01752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1089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Community Listings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419856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Listings scoped to a community — only visible to members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5196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3434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Points Leaderboard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654296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Per-member communityPoints earned through likes, comments, and activity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425196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43434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Moderator Hierarchy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654296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Owner → Moderator → Member with promote/demote controls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425196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43434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6DB"/>
                </a:solidFill>
              </a:rPr>
              <a:t>Notifications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654296"/>
            <a:ext cx="3337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All members notified of new posts; post authors alerted on likes and comments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8C8"/>
                </a:solidFill>
              </a:rPr>
              <a:t>BookBridge  ·  Confidential Business Overview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8C8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</a:rPr>
              <a:t>Discovery &amp; Social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How readers find the right books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725912" cy="228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669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4864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</a:rPr>
              <a:t>🔍 Full-Text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45336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Search by title, author, or ISBN. Filter by genre, condition, and transaction type (Gift / Exchange / Sell).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5669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54864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688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</a:rPr>
              <a:t>🌐 Explore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79776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Public browse mode — no login required. Great for acquisition and first impressions.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11880"/>
            <a:ext cx="5669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54864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7033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</a:rPr>
              <a:t>📰 Personalized 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014216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Follow other users. Every new listing they publish is fan-fanned into your feed in real time via Server-Sent Events.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5669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846320"/>
            <a:ext cx="54864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9377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</a:rPr>
              <a:t>🏘️ Community Browse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248656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Within a community, members see listings and posts scoped only to that group — reducing noise, increasing relevance.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097280"/>
            <a:ext cx="5029200" cy="4754880"/>
          </a:xfrm>
          <a:prstGeom prst="rect">
            <a:avLst/>
          </a:prstGeom>
          <a:solidFill>
            <a:srgbClr val="E8F0F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170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Social 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62763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•  Follow / unfollow any 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2219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•  Follower + following counts on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8163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•  Feed populated on publish (fan-out write)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41071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•  Real-time delivery via SSE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00507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•  New listing notifications to followers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59943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•  Profiles show reputation tier, bio, preferred genres, and district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8C8"/>
                </a:solidFill>
              </a:rPr>
              <a:t>BookBridge  ·  Confidential Business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8C8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</a:rPr>
              <a:t>Notifications &amp; Messaging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Keeping every participant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725912" cy="228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9 Notification Kinds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80136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636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📦 New listing from a followed 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508760"/>
            <a:ext cx="180136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5636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🔄 Transaction status changed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08760"/>
            <a:ext cx="180136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5636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💬 New direct message received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39112"/>
            <a:ext cx="180136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📢 Community announcement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039112"/>
            <a:ext cx="180136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20939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⭐ Reputation tier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039112"/>
            <a:ext cx="180136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🛡️ Moderation action taken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69463"/>
            <a:ext cx="180136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2432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📝 New post in your community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2569463"/>
            <a:ext cx="180136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262432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❤️ Someone liked your post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569463"/>
            <a:ext cx="180136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624327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</a:rPr>
              <a:t>🗨️ New comment on your post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54680"/>
            <a:ext cx="576072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918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Email Preferences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57600"/>
            <a:ext cx="1783080" cy="731520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712463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Immediate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95020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Each event triggers an email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3657600"/>
            <a:ext cx="1783080" cy="731520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0" y="3712463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Daily Digest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395020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Bundled summary once per 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3657600"/>
            <a:ext cx="1783080" cy="731520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712463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95020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In-app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1097280"/>
            <a:ext cx="5029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1170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💬  Real-Time Messaging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1627632"/>
            <a:ext cx="4663440" cy="640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168249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1-to-1 chat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1929384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Private conversations between any two users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2377440"/>
            <a:ext cx="4663440" cy="640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243230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Transaction-linked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2679192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Auto-opened thread when a transaction is accepted — context always available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3127248"/>
            <a:ext cx="4663440" cy="640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318211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Real-time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3429000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Server-Sent Events for instant delivery without websockets overhead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3877056"/>
            <a:ext cx="4663440" cy="640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03720" y="39319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Reportable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4178808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Any message can be reported; lands in the moderation queue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0" y="4626864"/>
            <a:ext cx="4663440" cy="640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4681727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Persistent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4928616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Full message history stored; no ephemeral-only conversations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8C8"/>
                </a:solidFill>
              </a:rPr>
              <a:t>BookBridge  ·  Confidential Business Overview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8C8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</a:rPr>
              <a:t>Moderation &amp; Platform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Trust at scale — structured, fair, transparent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725912" cy="228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What Can Be Reported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44752"/>
            <a:ext cx="1755648" cy="502920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0876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</a:rPr>
              <a:t>👤 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444752"/>
            <a:ext cx="1755648" cy="502920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150876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</a:rPr>
              <a:t>📦 Listing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44752"/>
            <a:ext cx="1755648" cy="502920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50876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</a:rPr>
              <a:t>🔄 Transaction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444752"/>
            <a:ext cx="1755648" cy="502920"/>
          </a:xfrm>
          <a:prstGeom prst="rect">
            <a:avLst/>
          </a:prstGeom>
          <a:solidFill>
            <a:srgbClr val="E8F0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50876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</a:rPr>
              <a:t>💬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488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Moderator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3520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5877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⚠️ Warn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862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Formal warning on record — no immediate restriction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514600"/>
            <a:ext cx="3520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25877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🗑️ Remove Listing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862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Listing taken down and flagged as removed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2514600"/>
            <a:ext cx="3520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7" y="25877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🔇 Suspend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7" y="2862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Account suspended; user cannot transact or post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55848"/>
            <a:ext cx="3520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4290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✅ Resolve Dispute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703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Moderator rules on a disputed transaction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355848"/>
            <a:ext cx="3520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34290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❌ Reject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3703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Report found unfounded — no action taken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3355848"/>
            <a:ext cx="3520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7" y="34290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🔄 Restore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7" y="3703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Suspension lifted or listing re-activated after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315968"/>
            <a:ext cx="1124712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5349240" cy="1097280"/>
          </a:xfrm>
          <a:prstGeom prst="rect">
            <a:avLst/>
          </a:prstGeom>
          <a:solidFill>
            <a:srgbClr val="FFF7E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4988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3500"/>
                </a:solidFill>
              </a:rPr>
              <a:t>🤖  Auto-Flagging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773168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System can auto-generate reports on suspicious patterns — feeding the queue without requiring manual user reports.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4434840"/>
            <a:ext cx="534924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4988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F46"/>
                </a:solidFill>
              </a:rPr>
              <a:t>🛡️  Admin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773168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Separate /admin route for system-level oversight: manage users, listings, and moderation across all communities.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8C8"/>
                </a:solidFill>
              </a:rPr>
              <a:t>BookBridge  ·  Confidential Business Overview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8C8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</a:rPr>
              <a:t>User Roles &amp; Access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Clear permissions at every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725912" cy="228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6974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697480" cy="5943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👁️  Guest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1D5DB"/>
                </a:solidFill>
              </a:rPr>
              <a:t>No account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73152" cy="21945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Browse public listings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86000"/>
            <a:ext cx="73152" cy="21945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2677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Full-text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43200"/>
            <a:ext cx="73152" cy="21945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249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View public profiles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00400"/>
            <a:ext cx="73152" cy="21945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1821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Explore page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097280"/>
            <a:ext cx="26974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1097280"/>
            <a:ext cx="2697480" cy="594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79" y="1161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👤  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14813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1D5DB"/>
                </a:solidFill>
              </a:rPr>
              <a:t>Verified account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1828800"/>
            <a:ext cx="73152" cy="2194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7" y="18105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Create &amp; manage listings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286000"/>
            <a:ext cx="73152" cy="2194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38727" y="22677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Request transactions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79" y="2743200"/>
            <a:ext cx="73152" cy="2194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38727" y="27249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Rate &amp;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79" y="3200400"/>
            <a:ext cx="73152" cy="2194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38727" y="31821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Follow users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79" y="3657600"/>
            <a:ext cx="73152" cy="2194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38727" y="36393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Join communities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79" y="4114800"/>
            <a:ext cx="73152" cy="2194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38727" y="40965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Send messages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1097280"/>
            <a:ext cx="26974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1097280"/>
            <a:ext cx="2697480" cy="594360"/>
          </a:xfrm>
          <a:prstGeom prst="rect">
            <a:avLst/>
          </a:prstGeom>
          <a:solidFill>
            <a:srgbClr val="09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1161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🔧  Moderator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14813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1D5DB"/>
                </a:solidFill>
              </a:rPr>
              <a:t>Elevated community role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828800"/>
            <a:ext cx="73152" cy="219456"/>
          </a:xfrm>
          <a:prstGeom prst="rect">
            <a:avLst/>
          </a:prstGeom>
          <a:solidFill>
            <a:srgbClr val="09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18105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All User capabilities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2286000"/>
            <a:ext cx="73152" cy="219456"/>
          </a:xfrm>
          <a:prstGeom prst="rect">
            <a:avLst/>
          </a:prstGeom>
          <a:solidFill>
            <a:srgbClr val="09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22677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Access moderation queue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743200"/>
            <a:ext cx="73152" cy="219456"/>
          </a:xfrm>
          <a:prstGeom prst="rect">
            <a:avLst/>
          </a:prstGeom>
          <a:solidFill>
            <a:srgbClr val="09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27249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Take moderation actions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3200400"/>
            <a:ext cx="73152" cy="219456"/>
          </a:xfrm>
          <a:prstGeom prst="rect">
            <a:avLst/>
          </a:prstGeom>
          <a:solidFill>
            <a:srgbClr val="09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31821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Award community points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657600"/>
            <a:ext cx="73152" cy="219456"/>
          </a:xfrm>
          <a:prstGeom prst="rect">
            <a:avLst/>
          </a:prstGeom>
          <a:solidFill>
            <a:srgbClr val="09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19088" y="36393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Pin/unpin posts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114800"/>
            <a:ext cx="73152" cy="219456"/>
          </a:xfrm>
          <a:prstGeom prst="rect">
            <a:avLst/>
          </a:prstGeom>
          <a:solidFill>
            <a:srgbClr val="09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19088" y="40965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Promote/demote members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06840" y="1097280"/>
            <a:ext cx="26974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06840" y="1097280"/>
            <a:ext cx="2697480" cy="594360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0" y="1161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⚙️  Admin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14813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1D5DB"/>
                </a:solidFill>
              </a:rPr>
              <a:t>Platform-wide authority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1828800"/>
            <a:ext cx="73152" cy="219456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99448" y="18105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Full platform access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2286000"/>
            <a:ext cx="73152" cy="219456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99448" y="22677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Admin dashboard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0" y="2743200"/>
            <a:ext cx="73152" cy="219456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99448" y="27249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System-level moderation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0" y="3200400"/>
            <a:ext cx="73152" cy="219456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99448" y="31821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User management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0" y="3657600"/>
            <a:ext cx="73152" cy="219456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99448" y="36393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</a:rPr>
              <a:t>Override any action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897880"/>
            <a:ext cx="1143000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</a:rPr>
              <a:t>Account lifecycle:  Pending Verification  →  Active  →  Suspended / Deleted  ·  Email verification required before account becomes Active.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8C8"/>
                </a:solidFill>
              </a:rPr>
              <a:t>BookBridge  ·  Confidential Business Overview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8992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8C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</a:rPr>
              <a:t>Business Model &amp; Market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How BookBridge creates and captures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725912" cy="228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Positioning:  BookBridge is a social trust network for book circulation — not a marketplace.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64008" cy="1417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939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0F0F"/>
                </a:solidFill>
              </a:rPr>
              <a:t>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09397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Campus-First GTM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23160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Launch within universities — where textbook pain is sharpest. Partner with student unions and library programs for distribution.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6596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65960"/>
            <a:ext cx="64008" cy="1417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939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0F0F"/>
                </a:solidFill>
              </a:rPr>
              <a:t>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09397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Network 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423160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Value compounds with users: more givers → more receivers → more ratings → stronger trust → more engagement.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64008" cy="1417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941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0F0F"/>
                </a:solidFill>
              </a:rP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69417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Monetization Paths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023360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Premium verified-seller badge · University partnership licensing · Local business listing sponsorships · API for library integrations.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56616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566160"/>
            <a:ext cx="64008" cy="1417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6941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0F0F"/>
                </a:solidFill>
              </a:rP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69417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Defensible Moat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023360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Reputation equity. A user's ReputationScore and community standing can't be transferred — switching cost grows with every transaction.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03520"/>
            <a:ext cx="1124712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</a:rPr>
              <a:t>Price cap enforcement is a deliberate design choice — it keeps the platform non-commercial, builds social goodwill, and differentiates BookBridge from generic resale apps.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8C8"/>
                </a:solidFill>
              </a:rPr>
              <a:t>BookBridge  ·  Confidential Business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8C8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2743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BookBridge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3C5FD"/>
                </a:solidFill>
              </a:rPr>
              <a:t>Share books. Build trust. Keep stories moving.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7FF"/>
                </a:solidFill>
              </a:rPr>
              <a:t>✓  Community-driven platform for second-hand book circulation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60020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7FF"/>
                </a:solidFill>
              </a:rPr>
              <a:t>✓  End-to-end transaction state machine with full audit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7FF"/>
                </a:solidFill>
              </a:rPr>
              <a:t>✓  Reputation system with atomic score events and tiers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94767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7FF"/>
                </a:solidFill>
              </a:rPr>
              <a:t>✓  Sub-communities scoped by university, location, and genre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9514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7FF"/>
                </a:solidFill>
              </a:rPr>
              <a:t>✓  Real-time feed, messaging, and 9-kind notification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29514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7FF"/>
                </a:solidFill>
              </a:rPr>
              <a:t>✓  Structured moderation queue with admin oversight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2816352"/>
            <a:ext cx="12188952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</a:rPr>
              <a:t>Next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2900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429000"/>
            <a:ext cx="2697480" cy="3840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4747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🚀  Production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88620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Deploy to Vercel with production database migration; smoke-test all critical flows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342900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3429000"/>
            <a:ext cx="2697480" cy="3840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34747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🔔  Notification Emails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8" y="388620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Wire email dispatcher to SendGrid/Resend for immediate, digest, and off preferences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42900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429000"/>
            <a:ext cx="2697480" cy="3840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34747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📊 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88620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Add lightweight event tracking (page views, listing clicks, conversion funnel)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3429000"/>
            <a:ext cx="2697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3429000"/>
            <a:ext cx="2697480" cy="3840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08007" y="34747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💳  Monetization 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7" y="388620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Run university partnership pilot — measure engagement before adding premium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</a:rPr>
              <a:t>Built with Next.js 14 · PostgreSQL · Prisma · Vercel  ·  Team Zootopia — 2025 Software Engineering Capstone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8C8"/>
                </a:solidFill>
              </a:rPr>
              <a:t>BookBridge  ·  Confidential Business 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0B8C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