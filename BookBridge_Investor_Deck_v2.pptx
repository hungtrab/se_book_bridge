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0" y="0"/>
            <a:ext cx="274320" cy="6858000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926080"/>
            <a:ext cx="420624" cy="3108960"/>
          </a:xfrm>
          <a:prstGeom prst="roundRect">
            <a:avLst>
              <a:gd name="adj" fmla="val 12000"/>
            </a:avLst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44168" y="3072384"/>
            <a:ext cx="420624" cy="2962656"/>
          </a:xfrm>
          <a:prstGeom prst="roundRect">
            <a:avLst>
              <a:gd name="adj" fmla="val 12000"/>
            </a:avLst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11096" y="3218688"/>
            <a:ext cx="420624" cy="2816352"/>
          </a:xfrm>
          <a:prstGeom prst="roundRect">
            <a:avLst>
              <a:gd name="adj" fmla="val 12000"/>
            </a:avLst>
          </a:prstGeom>
          <a:solidFill>
            <a:srgbClr val="D9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78024" y="3364992"/>
            <a:ext cx="420624" cy="2670048"/>
          </a:xfrm>
          <a:prstGeom prst="roundRect">
            <a:avLst>
              <a:gd name="adj" fmla="val 12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4952" y="3511296"/>
            <a:ext cx="420624" cy="2523744"/>
          </a:xfrm>
          <a:prstGeom prst="roundRect">
            <a:avLst>
              <a:gd name="adj" fmla="val 12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3657600"/>
            <a:ext cx="420624" cy="2377440"/>
          </a:xfrm>
          <a:prstGeom prst="roundRect">
            <a:avLst>
              <a:gd name="adj" fmla="val 12000"/>
            </a:avLst>
          </a:prstGeom>
          <a:solidFill>
            <a:srgbClr val="E3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AECD6"/>
                </a:solidFill>
                <a:latin typeface="Calibri"/>
              </a:rPr>
              <a:t>INVESTOR BRIEF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1732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FFFFFF"/>
                </a:solidFill>
                <a:latin typeface="Calibri"/>
              </a:rPr>
              <a:t>BookBridge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 i="0">
                <a:solidFill>
                  <a:srgbClr val="FAECD6"/>
                </a:solidFill>
                <a:latin typeface="Calibri"/>
              </a:rPr>
              <a:t>Where good books find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 i="0">
                <a:solidFill>
                  <a:srgbClr val="FAECD6"/>
                </a:solidFill>
                <a:latin typeface="Calibri"/>
              </a:rPr>
              <a:t>their next reader.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977639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FD6D2"/>
                </a:solidFill>
                <a:latin typeface="Calibri"/>
              </a:rPr>
              <a:t>A campus community where readers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gift, swap, or sell</a:t>
            </a:r>
            <a:r>
              <a:rPr sz="1500" b="0" i="0">
                <a:solidFill>
                  <a:srgbClr val="CFD6D2"/>
                </a:solidFill>
                <a:latin typeface="Calibri"/>
              </a:rPr>
              <a:t> the books they're done with — and trust the strangers they hand them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2578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257800"/>
            <a:ext cx="2286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UN SDG 4 · Education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5257800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5257800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UN SDG 12 · Responsible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Seeking grant &amp; seed partners</a:t>
            </a:r>
            <a:r>
              <a:rPr sz="1300" b="0" i="0">
                <a:solidFill>
                  <a:srgbClr val="A9B4AE"/>
                </a:solidFill>
                <a:latin typeface="Calibri"/>
              </a:rPr>
              <a:t>    ·    Team Zootopia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9B4AE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D9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5D4A"/>
                </a:solidFill>
                <a:latin typeface="Calibri"/>
              </a:rPr>
              <a:t>CHAPTER 01 · THE SHELF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Every shelf has a graveyard.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589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Picture the last textbook you bought. You read it once, maybe twice, then it joined the quiet row of books behind you — too good to throw out, too forgotten to open again. 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D3D56"/>
                </a:solidFill>
                <a:latin typeface="Calibri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Now multiply that by every student on a single campus. Thousands of books sit frozen on shelves while the next reader pays full price for a copy that already exists three doors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D95D4A"/>
                </a:solidFill>
                <a:latin typeface="Calibri"/>
              </a:rPr>
              <a:t>The value is there. It's just stuck.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2697480"/>
            <a:ext cx="26060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89720" y="3017520"/>
            <a:ext cx="548640" cy="868680"/>
          </a:xfrm>
          <a:prstGeom prst="roundRect">
            <a:avLst>
              <a:gd name="adj" fmla="val 10000"/>
            </a:avLst>
          </a:prstGeom>
          <a:solidFill>
            <a:srgbClr val="7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02952" y="3017520"/>
            <a:ext cx="548640" cy="868680"/>
          </a:xfrm>
          <a:prstGeom prst="roundRect">
            <a:avLst>
              <a:gd name="adj" fmla="val 10000"/>
            </a:avLst>
          </a:prstGeom>
          <a:solidFill>
            <a:srgbClr val="7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16184" y="3017520"/>
            <a:ext cx="548640" cy="868680"/>
          </a:xfrm>
          <a:prstGeom prst="roundRect">
            <a:avLst>
              <a:gd name="adj" fmla="val 10000"/>
            </a:avLst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16568" y="3995928"/>
            <a:ext cx="2203704" cy="38100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20" y="4114800"/>
            <a:ext cx="548640" cy="868680"/>
          </a:xfrm>
          <a:prstGeom prst="roundRect">
            <a:avLst>
              <a:gd name="adj" fmla="val 10000"/>
            </a:avLst>
          </a:prstGeom>
          <a:solidFill>
            <a:srgbClr val="7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02952" y="4114800"/>
            <a:ext cx="548640" cy="868680"/>
          </a:xfrm>
          <a:prstGeom prst="roundRect">
            <a:avLst>
              <a:gd name="adj" fmla="val 10000"/>
            </a:avLst>
          </a:prstGeom>
          <a:solidFill>
            <a:srgbClr val="7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16184" y="4114800"/>
            <a:ext cx="548640" cy="868680"/>
          </a:xfrm>
          <a:prstGeom prst="roundRect">
            <a:avLst>
              <a:gd name="adj" fmla="val 10000"/>
            </a:avLst>
          </a:prstGeom>
          <a:solidFill>
            <a:srgbClr val="7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16568" y="5093208"/>
            <a:ext cx="2203704" cy="38100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50292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767066"/>
                </a:solidFill>
                <a:latin typeface="Calibri"/>
              </a:rPr>
              <a:t>one read, then forgotten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02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01 · The shelf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08E2C"/>
                </a:solidFill>
                <a:latin typeface="Calibri"/>
              </a:rPr>
              <a:t>CHAPTER 02 · THE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So why don't we just pass them 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49807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Because giving a book to someone you've never met is awkward, and a little risky. Will they actually show up? Are they who they say they are? 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D3D56"/>
                </a:solidFill>
                <a:latin typeface="Calibri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The usual options don't help. Marketplaces are built to </a:t>
            </a:r>
            <a:r>
              <a:rPr sz="1650" b="1" i="0">
                <a:solidFill>
                  <a:srgbClr val="1A1A2E"/>
                </a:solidFill>
                <a:latin typeface="Calibri"/>
              </a:rPr>
              <a:t>sell</a:t>
            </a:r>
            <a:r>
              <a:rPr sz="1650" b="0" i="0">
                <a:solidFill>
                  <a:srgbClr val="3D3D56"/>
                </a:solidFill>
                <a:latin typeface="Calibri"/>
              </a:rPr>
              <a:t> — they push haggling, shipping and profit. Libraries have waitlists. So the book stays put, not because nobody wants it, but because there's no easy, trusted way to move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697480"/>
            <a:ext cx="27889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2697480"/>
            <a:ext cx="91440" cy="822960"/>
          </a:xfrm>
          <a:prstGeom prst="roundRect">
            <a:avLst/>
          </a:prstGeom>
          <a:solidFill>
            <a:srgbClr val="D9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281635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Awkward &amp; risky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8552" y="31089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67066"/>
                </a:solidFill>
                <a:latin typeface="Calibri"/>
              </a:rPr>
              <a:t>Handing a book to a stranger feels uneasy.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630168"/>
            <a:ext cx="27889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3630168"/>
            <a:ext cx="91440" cy="822960"/>
          </a:xfrm>
          <a:prstGeom prst="roundRect">
            <a:avLst/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37490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Marketplaces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40416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67066"/>
                </a:solidFill>
                <a:latin typeface="Calibri"/>
              </a:rPr>
              <a:t>Built for profit and shipping, not sharing.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562856"/>
            <a:ext cx="27889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20" y="4562856"/>
            <a:ext cx="91440" cy="822960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468172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No way to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497433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67066"/>
                </a:solidFill>
                <a:latin typeface="Calibri"/>
              </a:rPr>
              <a:t>No signal for who's actually reliable.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03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02 · The friction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5B"/>
                </a:solidFill>
                <a:latin typeface="Calibri"/>
              </a:rPr>
              <a:t>CHAPTER 03 · 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The missing piece was never payment. It was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49807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We stopped thinking about how to take a cut of a sale, and started asking a simpler question: what would make two strangers comfortable handing a book between them? 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D3D56"/>
                </a:solidFill>
                <a:latin typeface="Calibri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The answer is a place where you can see who's reliable, agree on a hand-off, and feel safe doing it — especially inside a community you already belong to, like your campus. </a:t>
            </a:r>
            <a:r>
              <a:rPr sz="1650" b="1" i="0">
                <a:solidFill>
                  <a:srgbClr val="1A1A2E"/>
                </a:solidFill>
                <a:latin typeface="Calibri"/>
              </a:rPr>
              <a:t>Nobody owns that gap yet, and the moment to fill it is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697480"/>
            <a:ext cx="2788920" cy="2743200"/>
          </a:xfrm>
          <a:prstGeom prst="roundRect">
            <a:avLst>
              <a:gd name="adj" fmla="val 6000"/>
            </a:avLst>
          </a:prstGeom>
          <a:solidFill>
            <a:srgbClr val="E3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95351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5B"/>
                </a:solidFill>
                <a:latin typeface="Calibri"/>
              </a:rPr>
              <a:t>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4290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5B"/>
                </a:solidFill>
                <a:latin typeface="Calibri"/>
              </a:rPr>
              <a:t>›  </a:t>
            </a:r>
            <a:r>
              <a:rPr sz="1250" b="1" i="0">
                <a:solidFill>
                  <a:srgbClr val="1A1A2E"/>
                </a:solidFill>
                <a:latin typeface="Calibri"/>
              </a:rPr>
              <a:t>Reuse is a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67588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D3D56"/>
                </a:solidFill>
                <a:latin typeface="Calibri"/>
              </a:rPr>
              <a:t>Sustainability is now a buying behaviour, not a sacrifice.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408736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5B"/>
                </a:solidFill>
                <a:latin typeface="Calibri"/>
              </a:rPr>
              <a:t>›  </a:t>
            </a:r>
            <a:r>
              <a:rPr sz="1250" b="1" i="0">
                <a:solidFill>
                  <a:srgbClr val="1A1A2E"/>
                </a:solidFill>
                <a:latin typeface="Calibri"/>
              </a:rPr>
              <a:t>Community &gt; counter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334256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D3D56"/>
                </a:solidFill>
                <a:latin typeface="Calibri"/>
              </a:rPr>
              <a:t>Gen Z would rather belong than transact.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74573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5B"/>
                </a:solidFill>
                <a:latin typeface="Calibri"/>
              </a:rPr>
              <a:t>›  </a:t>
            </a:r>
            <a:r>
              <a:rPr sz="1250" b="1" i="0">
                <a:solidFill>
                  <a:srgbClr val="1A1A2E"/>
                </a:solidFill>
                <a:latin typeface="Calibri"/>
              </a:rPr>
              <a:t>Campuses are dense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992624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D3D56"/>
                </a:solidFill>
                <a:latin typeface="Calibri"/>
              </a:rPr>
              <a:t>High-trust networks where one seeds the next.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04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03 · The insight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5B"/>
                </a:solidFill>
                <a:latin typeface="Calibri"/>
              </a:rPr>
              <a:t>CHAPTER 04 · THE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A1A2E"/>
                </a:solidFill>
                <a:latin typeface="Calibri"/>
              </a:rPr>
              <a:t>Meet BookBridge — one trusted place to keep a book moving.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Anyone can list a book in under a minute and choose how to pass it on. That single choice — give, swap, or sell — is the whole idea, wrapped in a community that already knows who to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11880"/>
            <a:ext cx="3456432" cy="1691640"/>
          </a:xfrm>
          <a:prstGeom prst="roundRect">
            <a:avLst>
              <a:gd name="adj" fmla="val 7000"/>
            </a:avLst>
          </a:prstGeom>
          <a:solidFill>
            <a:srgbClr val="E3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3904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90448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6F5B"/>
                </a:solidFill>
                <a:latin typeface="Calibri"/>
              </a:rPr>
              <a:t>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995928"/>
            <a:ext cx="20848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E6F5B"/>
                </a:solidFill>
                <a:latin typeface="Calibri"/>
              </a:rPr>
              <a:t>Gift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470916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D3D56"/>
                </a:solidFill>
                <a:latin typeface="Calibri"/>
              </a:rPr>
              <a:t>Give it away free.
Pure circulation.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3611880"/>
            <a:ext cx="3456432" cy="1691640"/>
          </a:xfrm>
          <a:prstGeom prst="roundRect">
            <a:avLst>
              <a:gd name="adj" fmla="val 7000"/>
            </a:avLst>
          </a:prstGeom>
          <a:solidFill>
            <a:srgbClr val="FA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82312" y="3904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390448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08E2C"/>
                </a:solidFill>
                <a:latin typeface="Calibr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78424" y="3995928"/>
            <a:ext cx="20848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E08E2C"/>
                </a:solidFill>
                <a:latin typeface="Calibri"/>
              </a:rPr>
              <a:t>Exchange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470916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D3D56"/>
                </a:solidFill>
                <a:latin typeface="Calibri"/>
              </a:rPr>
              <a:t>Trade book for book.
No money moves.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8" y="3611880"/>
            <a:ext cx="3456432" cy="1691640"/>
          </a:xfrm>
          <a:prstGeom prst="roundRect">
            <a:avLst>
              <a:gd name="adj" fmla="val 7000"/>
            </a:avLst>
          </a:prstGeom>
          <a:solidFill>
            <a:srgbClr val="F3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03336" y="3904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390448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D4A"/>
                </a:solidFill>
                <a:latin typeface="Calibri"/>
              </a:rPr>
              <a:t>🏷️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3995928"/>
            <a:ext cx="20848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95D4A"/>
                </a:solidFill>
                <a:latin typeface="Calibri"/>
              </a:rPr>
              <a:t>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470916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D3D56"/>
                </a:solidFill>
                <a:latin typeface="Calibri"/>
              </a:rPr>
              <a:t>A symbolic price,
capped at 50,000 VND.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2E6F5B"/>
                </a:solidFill>
                <a:latin typeface="Calibri"/>
              </a:rPr>
              <a:t>The 50,000 VND cap is enforced in the code itself</a:t>
            </a:r>
            <a:r>
              <a:rPr sz="1500" b="0" i="1">
                <a:solidFill>
                  <a:srgbClr val="3D3D56"/>
                </a:solidFill>
                <a:latin typeface="Calibri"/>
              </a:rPr>
              <a:t> — which keeps BookBridge non-commercial, grant-eligible, and free of payment liability.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05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04 · The turn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08E2C"/>
                </a:solidFill>
                <a:latin typeface="Calibri"/>
              </a:rPr>
              <a:t>CHAPTER 05 · THE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It starts with one photo and an ISBN.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49807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A book's journey begins the moment it leaves the shelf and becomes a listing. Paste an ISBN and the title, author and cover fill themselves in; snap a couple of photos, pick how you want to pass it on, and you're done — under a minute, start to finish. 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D3D56"/>
                </a:solidFill>
                <a:latin typeface="Calibri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A1A2E"/>
                </a:solidFill>
                <a:latin typeface="Calibri"/>
              </a:rPr>
              <a:t>The easier it is to list, the faster shelves empty</a:t>
            </a:r>
            <a:r>
              <a:rPr sz="1650" b="0" i="0">
                <a:solidFill>
                  <a:srgbClr val="3D3D56"/>
                </a:solidFill>
                <a:latin typeface="Calibri"/>
              </a:rPr>
              <a:t> — and the more there is for the next reader to discover.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697480"/>
            <a:ext cx="27889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06840" y="2971800"/>
            <a:ext cx="868680" cy="1234440"/>
          </a:xfrm>
          <a:prstGeom prst="roundRect">
            <a:avLst>
              <a:gd name="adj" fmla="val 6000"/>
            </a:avLst>
          </a:prstGeom>
          <a:solidFill>
            <a:srgbClr val="FA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341071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E08E2C"/>
                </a:solidFill>
                <a:latin typeface="Calibri"/>
              </a:rPr>
              <a:t>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30968" y="3054096"/>
            <a:ext cx="1188720" cy="25400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30968" y="29626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Title · 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30968" y="3364992"/>
            <a:ext cx="1188720" cy="25400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30968" y="327355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67066"/>
                </a:solidFill>
                <a:latin typeface="Calibri"/>
              </a:rPr>
              <a:t>auto-filled from ISBN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30968" y="3675888"/>
            <a:ext cx="1188720" cy="25400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0968" y="358444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Condition · Genre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30968" y="3986784"/>
            <a:ext cx="1188720" cy="25400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0968" y="389534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5B"/>
                </a:solidFill>
                <a:latin typeface="Calibri"/>
              </a:rPr>
              <a:t>Gift / Swap / Sell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484632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846320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Posted in under 60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06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05 · The listing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CHAPTER 06 · THE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And somewhere, a reader is looking for exactly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49807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Search returns results in under a second — ranked across title, author and description, and narrowed by genre, condition, price, or simply how close the book is. 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D3D56"/>
                </a:solidFill>
                <a:latin typeface="Calibri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Between searches, a personal feed keeps surfacing fresh listings from the people and communities you follow. </a:t>
            </a:r>
            <a:r>
              <a:rPr sz="1650" b="1" i="0">
                <a:solidFill>
                  <a:srgbClr val="1A1A2E"/>
                </a:solidFill>
                <a:latin typeface="Calibri"/>
              </a:rPr>
              <a:t>Discovery is what brings readers back day after day</a:t>
            </a:r>
            <a:r>
              <a:rPr sz="1650" b="0" i="0">
                <a:solidFill>
                  <a:srgbClr val="3D3D56"/>
                </a:solidFill>
                <a:latin typeface="Calibri"/>
              </a:rPr>
              <a:t> — and what keeps every book in circulation.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697480"/>
            <a:ext cx="27889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8552" y="2971800"/>
            <a:ext cx="2276856" cy="457200"/>
          </a:xfrm>
          <a:prstGeom prst="roundRect">
            <a:avLst>
              <a:gd name="adj" fmla="val 30000"/>
            </a:avLst>
          </a:prstGeom>
          <a:solidFill>
            <a:srgbClr val="E4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2971800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B6EA5"/>
                </a:solidFill>
                <a:latin typeface="Calibri"/>
              </a:rPr>
              <a:t>🔍  calculus, good condition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3611880"/>
            <a:ext cx="2276856" cy="3657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3611880"/>
            <a:ext cx="2057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Calculus · Stewart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4069080"/>
            <a:ext cx="2276856" cy="3657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4069080"/>
            <a:ext cx="2057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Linear Algebra · 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4526280"/>
            <a:ext cx="2276856" cy="3657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526280"/>
            <a:ext cx="2057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Physics · Halliday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292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767066"/>
                </a:solidFill>
                <a:latin typeface="Calibri"/>
              </a:rPr>
              <a:t>ranked results in under a second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07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06 · The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D9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5D4A"/>
                </a:solidFill>
                <a:latin typeface="Calibri"/>
              </a:rPr>
              <a:t>CHAPTER 07 · THE HAND-OFF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Two strangers agree to meet — safely.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When someone wants your book, a chat opens right inside the deal — no phone numbers, no leaving the platform. A clear, well-tested flow walks both sides from request to hand-off to a final rating, with a waitlist if several people want the same title, and a moderator on call if anything ever goes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977639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D4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977639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3977639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977639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D4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977639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3977639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977639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D4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3977639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977639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977639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D4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977639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3977639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D4A"/>
                </a:solidFill>
                <a:latin typeface="Calibri"/>
              </a:rPr>
              <a:t>Every awkward case is handled: </a:t>
            </a:r>
            <a:r>
              <a:rPr sz="1300" b="0" i="0">
                <a:solidFill>
                  <a:srgbClr val="3D3D56"/>
                </a:solidFill>
                <a:latin typeface="Calibri"/>
              </a:rPr>
              <a:t>decline, cancel, no-show and dispute are all caught, queued, or escalated — never left hanging.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D95D4A"/>
                </a:solidFill>
                <a:latin typeface="Calibri"/>
              </a:rPr>
              <a:t>The hand-off is the moment trust is earned — and the rating that follows feeds everything on the next slide.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08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07 · The hand-off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5B"/>
                </a:solidFill>
                <a:latin typeface="Calibri"/>
              </a:rPr>
              <a:t>CHAPTER 08 · THE BELONGING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One good exchange, and they're part of something.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49807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A reader doesn't just complete a deal — they join the communities that fit them: their university, their city, their favourite genres. Joining instantly fills their feed with books from that group, so there's never a cold, empty start. 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D3D56"/>
                </a:solidFill>
                <a:latin typeface="Calibri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A1A2E"/>
                </a:solidFill>
                <a:latin typeface="Calibri"/>
              </a:rPr>
              <a:t>Follows and shared spaces turn one-off swaps into a network that grows itself</a:t>
            </a:r>
            <a:r>
              <a:rPr sz="1650" b="0" i="0">
                <a:solidFill>
                  <a:srgbClr val="3D3D56"/>
                </a:solidFill>
                <a:latin typeface="Calibri"/>
              </a:rPr>
              <a:t> — one campus quietly inviting the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697480"/>
            <a:ext cx="27889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8552" y="2990088"/>
            <a:ext cx="2276856" cy="457200"/>
          </a:xfrm>
          <a:prstGeom prst="roundRect">
            <a:avLst>
              <a:gd name="adj" fmla="val 15000"/>
            </a:avLst>
          </a:prstGeom>
          <a:solidFill>
            <a:srgbClr val="E3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29900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E6F5B"/>
                </a:solidFill>
                <a:latin typeface="Calibri"/>
              </a:rP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99008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Your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3557016"/>
            <a:ext cx="2276856" cy="457200"/>
          </a:xfrm>
          <a:prstGeom prst="roundRect">
            <a:avLst>
              <a:gd name="adj" fmla="val 15000"/>
            </a:avLst>
          </a:prstGeom>
          <a:solidFill>
            <a:srgbClr val="E4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3557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B6EA5"/>
                </a:solidFill>
                <a:latin typeface="Calibri"/>
              </a:rPr>
              <a:t>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557016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Your 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4123944"/>
            <a:ext cx="2276856" cy="457200"/>
          </a:xfrm>
          <a:prstGeom prst="roundRect">
            <a:avLst>
              <a:gd name="adj" fmla="val 15000"/>
            </a:avLst>
          </a:prstGeom>
          <a:solidFill>
            <a:srgbClr val="FA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E08E2C"/>
                </a:solidFill>
                <a:latin typeface="Calibri"/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123944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Your genres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480060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767066"/>
                </a:solidFill>
                <a:latin typeface="Calibri"/>
              </a:rPr>
              <a:t>Join → feed fills instantly with that group's books.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09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08 · The belonging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08E2C"/>
                </a:solidFill>
                <a:latin typeface="Calibri"/>
              </a:rPr>
              <a:t>CHAPTER 09 · 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97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this gets harder to copy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CFD6D2"/>
                </a:solidFill>
                <a:latin typeface="Calibri"/>
              </a:rPr>
              <a:t>Every completed deal and honest rating builds a reputation that's </a:t>
            </a:r>
            <a:r>
              <a:rPr sz="1650" b="1" i="0">
                <a:solidFill>
                  <a:srgbClr val="E08E2C"/>
                </a:solidFill>
                <a:latin typeface="Calibri"/>
              </a:rPr>
              <a:t>earned one exchange at a time</a:t>
            </a:r>
            <a:r>
              <a:rPr sz="1650" b="0" i="0">
                <a:solidFill>
                  <a:srgbClr val="CFD6D2"/>
                </a:solidFill>
                <a:latin typeface="Calibri"/>
              </a:rPr>
              <a:t> — from New Member to Community Champion. A competitor can copy our features in a weekend, but not years of accumulated trust. Quiet checks flag suspicious patterns for a human to review, so we protect the network without punishing real friendships.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2587752" cy="109728"/>
          </a:xfrm>
          <a:prstGeom prst="roundRect">
            <a:avLst/>
          </a:prstGeom>
          <a:solidFill>
            <a:srgbClr val="7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33671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767066"/>
                </a:solidFill>
                <a:latin typeface="Calibri"/>
              </a:rPr>
              <a:t>0–19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54295"/>
            <a:ext cx="2587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New 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4" y="3977639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75304" y="3977639"/>
            <a:ext cx="2587752" cy="109728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4233671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3B6EA5"/>
                </a:solidFill>
                <a:latin typeface="Calibri"/>
              </a:rPr>
              <a:t>20–49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4654295"/>
            <a:ext cx="2587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Active Sharer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977639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928" y="3977639"/>
            <a:ext cx="2587752" cy="109728"/>
          </a:xfrm>
          <a:prstGeom prst="round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4233671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E6F5B"/>
                </a:solidFill>
                <a:latin typeface="Calibri"/>
              </a:rPr>
              <a:t>50–79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4654295"/>
            <a:ext cx="2587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Trusted Contributor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3977639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88552" y="3977639"/>
            <a:ext cx="2587752" cy="109728"/>
          </a:xfrm>
          <a:prstGeom prst="roundRect">
            <a:avLst/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4233671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E08E2C"/>
                </a:solidFill>
                <a:latin typeface="Calibri"/>
              </a:rPr>
              <a:t>80–100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654295"/>
            <a:ext cx="2587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Community Champion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E08E2C"/>
                </a:solidFill>
                <a:latin typeface="Calibri"/>
              </a:rPr>
              <a:t>The longer BookBridge runs, the more trustworthy it becomes — and the wider the moat.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9B4AE"/>
                </a:solidFill>
                <a:latin typeface="Calibri"/>
              </a:rPr>
              <a:t>10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9B4AE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A9B4AE"/>
                </a:solidFill>
                <a:latin typeface="Calibri"/>
              </a:rPr>
              <a:t>   ·   Chapter 09 · The moat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5B"/>
                </a:solidFill>
                <a:latin typeface="Calibri"/>
              </a:rPr>
              <a:t>CHAPTER 10 · HOW IT LASTS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Built to last on very little.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3D3D56"/>
                </a:solidFill>
                <a:latin typeface="Calibri"/>
              </a:rPr>
              <a:t>BookBridge runs on a deliberately lean stack — one database, no payment rails, no message broker — so it can hold a thousand readers at once while staying cheap to operate. Because it's non-commercial by design, it qualifies for education and sustainability grants, and reports its impact to sponsors at the click of a button.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25877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109728" cy="1234440"/>
          </a:xfrm>
          <a:prstGeom prst="roundRect">
            <a:avLst/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197095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E08E2C"/>
                </a:solidFill>
                <a:latin typeface="Calibri"/>
              </a:rPr>
              <a:t>1,000+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4800599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D3D56"/>
                </a:solidFill>
                <a:latin typeface="Calibri"/>
              </a:rPr>
              <a:t>concurrent users, one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4" y="3977639"/>
            <a:ext cx="25877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75304" y="3977639"/>
            <a:ext cx="109728" cy="1234440"/>
          </a:xfrm>
          <a:prstGeom prst="round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4197095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6B4E9E"/>
                </a:solidFill>
                <a:latin typeface="Calibri"/>
              </a:rP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4800599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D3D56"/>
                </a:solidFill>
                <a:latin typeface="Calibri"/>
              </a:rPr>
              <a:t>uptime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977639"/>
            <a:ext cx="25877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928" y="3977639"/>
            <a:ext cx="109728" cy="1234440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4197095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3B6EA5"/>
                </a:solidFill>
                <a:latin typeface="Calibri"/>
              </a:rPr>
              <a:t>&lt; 3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4800599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D3D56"/>
                </a:solidFill>
                <a:latin typeface="Calibri"/>
              </a:rPr>
              <a:t>page load on 4G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3977639"/>
            <a:ext cx="25877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88552" y="3977639"/>
            <a:ext cx="109728" cy="1234440"/>
          </a:xfrm>
          <a:prstGeom prst="round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4197095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2E6F5B"/>
                </a:solidFill>
                <a:latin typeface="Calibri"/>
              </a:rPr>
              <a:t>≥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4800599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D3D56"/>
                </a:solidFill>
                <a:latin typeface="Calibri"/>
              </a:rPr>
              <a:t>automated test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2E6F5B"/>
                </a:solidFill>
                <a:latin typeface="Calibri"/>
              </a:rPr>
              <a:t>Low burn, clear mission, real headroom</a:t>
            </a:r>
            <a:r>
              <a:rPr sz="1500" b="0" i="1">
                <a:solidFill>
                  <a:srgbClr val="3D3D56"/>
                </a:solidFill>
                <a:latin typeface="Calibri"/>
              </a:rPr>
              <a:t> — the runway goes to growth, not infrastructure.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67066"/>
                </a:solidFill>
                <a:latin typeface="Calibri"/>
              </a:rPr>
              <a:t>11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67066"/>
                </a:solidFill>
                <a:latin typeface="Calibri"/>
              </a:rPr>
              <a:t>BookBridge</a:t>
            </a:r>
            <a:r>
              <a:rPr sz="900" b="0" i="0">
                <a:solidFill>
                  <a:srgbClr val="767066"/>
                </a:solidFill>
                <a:latin typeface="Calibri"/>
              </a:rPr>
              <a:t>   ·   Chapter 10 · How it lasts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Keep books moving 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E08E2C"/>
                </a:solidFill>
                <a:latin typeface="Calibri"/>
              </a:rPr>
              <a:t>and build the trust that makes sharing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CFD6D2"/>
                </a:solidFill>
                <a:latin typeface="Calibri"/>
              </a:rPr>
              <a:t>We've built the whole platform — listings, search, chat, communities and a working trust engine. It's live today. What we need now is the runway and the partners to put it in front of the first campuses.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08E2C"/>
                </a:solidFill>
                <a:latin typeface="Calibri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3EFE9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Grant &amp; seed partners to fund the next 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206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3EFE9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Pilot partnerships with 3 universities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3EFE9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Advisors in community growth and trust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6634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3EFE9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 platform already live and ready to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32120"/>
            <a:ext cx="10469880" cy="640080"/>
          </a:xfrm>
          <a:prstGeom prst="roundRect">
            <a:avLst>
              <a:gd name="adj" fmla="val 18000"/>
            </a:avLst>
          </a:prstGeom>
          <a:solidFill>
            <a:srgbClr val="1E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10469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Team Zootopia   ·   Let's keep books in circulation, not in landfills.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37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9B4AE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