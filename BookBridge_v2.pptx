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30168"/>
            <a:ext cx="12188952" cy="54864"/>
          </a:xfrm>
          <a:prstGeom prst="rect">
            <a:avLst/>
          </a:prstGeom>
          <a:solidFill>
            <a:srgbClr val="36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3657600"/>
          </a:xfrm>
          <a:prstGeom prst="rect">
            <a:avLst/>
          </a:prstGeom>
          <a:solidFill>
            <a:srgbClr val="36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365760"/>
            <a:ext cx="2011680" cy="2926080"/>
          </a:xfrm>
          <a:prstGeom prst="rect">
            <a:avLst/>
          </a:prstGeom>
          <a:solidFill>
            <a:srgbClr val="D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0F172A"/>
                </a:solidFill>
              </a:rP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114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BookBridge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25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ED8FF"/>
                </a:solidFill>
              </a:rPr>
              <a:t>Share books.  Build trust.  Keep stories moving.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202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BEAFF"/>
                </a:solidFill>
              </a:rPr>
              <a:t>A community-driven platform for second-hand book sharing
among students and local readers — built on reputation, not transaction fees.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175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BBFF"/>
                </a:solidFill>
              </a:rPr>
              <a:t>Team Zootopia  ·  SE Capstone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2331720" cy="1463040"/>
          </a:xfrm>
          <a:prstGeom prst="rect">
            <a:avLst/>
          </a:prstGeom>
          <a:solidFill>
            <a:srgbClr val="EFF5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6DB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45152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Transaction
Types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3886200"/>
            <a:ext cx="2331720" cy="1463040"/>
          </a:xfrm>
          <a:prstGeom prst="rect">
            <a:avLst/>
          </a:prstGeom>
          <a:solidFill>
            <a:srgbClr val="EFF5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977639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6DB"/>
                </a:solidFill>
              </a:rPr>
              <a:t>8+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645152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Core
Features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3886200"/>
            <a:ext cx="2331720" cy="1463040"/>
          </a:xfrm>
          <a:prstGeom prst="rect">
            <a:avLst/>
          </a:prstGeom>
          <a:solidFill>
            <a:srgbClr val="EFF5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3977639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6DB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4645152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User
Roles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3886200"/>
            <a:ext cx="2331720" cy="1463040"/>
          </a:xfrm>
          <a:prstGeom prst="rect">
            <a:avLst/>
          </a:prstGeom>
          <a:solidFill>
            <a:srgbClr val="EFF5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977639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6DB"/>
                </a:solidFill>
              </a:rPr>
              <a:t>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645152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Stories
Shared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</a:rPr>
              <a:t>🟢  Live on Vercel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</a:rPr>
              <a:t>Next.js 14  ·  PostgreSQL  ·  Prisma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C0"/>
                </a:solidFill>
              </a:rPr>
              <a:t>BookBridge  ·  Business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83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C0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Why BookBridge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0698480" cy="16459"/>
          </a:xfrm>
          <a:prstGeom prst="rect">
            <a:avLst/>
          </a:prstGeom>
          <a:solidFill>
            <a:srgbClr val="CFD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26700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2670048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Books go to waste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Millions of textbooks sit unused after each semester. Students have no trusted channel to pass them 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024128"/>
            <a:ext cx="26700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4408" y="1024128"/>
            <a:ext cx="2670048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143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6916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Learning costs too much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10312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New textbooks are prohibitively expensive. Students need Gift, Exchange, or low-cost Sell options.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1024128"/>
            <a:ext cx="26700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1024128"/>
            <a:ext cx="2670048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143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16916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No trust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10312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Generic marketplaces lack the reputation infrastructure needed for safe peer-to-peer book sharing.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0263" y="1024128"/>
            <a:ext cx="26700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0263" y="1024128"/>
            <a:ext cx="2670048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3" y="1143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🏘️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16916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Communities are disconnected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210312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University and neighbourhood reading groups have no dedicated space to share and discover books together.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407408"/>
            <a:ext cx="11320272" cy="914400"/>
          </a:xfrm>
          <a:prstGeom prst="rect">
            <a:avLst/>
          </a:prstGeom>
          <a:solidFill>
            <a:srgbClr val="EFF5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💡  BookBridge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73168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A trusted social network for book circulation — scoped to universities, locations, and reading communities. Value comes from reputation equity and community lock-in, not listing fees.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C0"/>
                </a:solidFill>
              </a:rPr>
              <a:t>BookBridge  ·  Business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83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C0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8 features, one coherent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0698480" cy="16459"/>
          </a:xfrm>
          <a:prstGeom prst="rect">
            <a:avLst/>
          </a:prstGeom>
          <a:solidFill>
            <a:srgbClr val="CFD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788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788920" cy="38404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1155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📖  Listings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508760"/>
            <a:ext cx="25603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Gift · Exchange · Sell
Condition, photos, price cap, community scoping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051560"/>
            <a:ext cx="2788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051560"/>
            <a:ext cx="2788920" cy="38404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1155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🔍 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508760"/>
            <a:ext cx="25603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Full-text search + personalized
feed via social follows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051560"/>
            <a:ext cx="2788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051560"/>
            <a:ext cx="2788920" cy="38404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1155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🔄  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508760"/>
            <a:ext cx="25603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Full state machine from request
to completion with audit trail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864" y="1051560"/>
            <a:ext cx="2788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051560"/>
            <a:ext cx="2788920" cy="38404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1155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💬  Messaging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508760"/>
            <a:ext cx="25603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Real-time 1-to-1 chat
linked to transaction threads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54679"/>
            <a:ext cx="2788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154679"/>
            <a:ext cx="2788920" cy="38404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" y="321868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⭐  Reputation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3611879"/>
            <a:ext cx="25603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Atomic score events: completions +,
disputes −, time decay 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154679"/>
            <a:ext cx="2788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0128" y="3154679"/>
            <a:ext cx="2788920" cy="38404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38144" y="321868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🏘️  Communities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8144" y="3611879"/>
            <a:ext cx="25603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University · Location · Genre
Posts, likes, leaderboards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4496" y="3154679"/>
            <a:ext cx="2788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4496" y="3154679"/>
            <a:ext cx="2788920" cy="38404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321868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🔔  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611879"/>
            <a:ext cx="25603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9 kinds: listings, transactions,
messages, community activity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98864" y="3154679"/>
            <a:ext cx="2788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98864" y="3154679"/>
            <a:ext cx="2788920" cy="38404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21868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🛡️  Moderation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611879"/>
            <a:ext cx="25603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Report queue with structured
actions and admin oversight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C0"/>
                </a:solidFill>
              </a:rPr>
              <a:t>BookBridge  ·  Business Overview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583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C0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Transaction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How a book moves from one reader to the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0698480" cy="16459"/>
          </a:xfrm>
          <a:prstGeom prst="rect">
            <a:avLst/>
          </a:prstGeom>
          <a:solidFill>
            <a:srgbClr val="CFD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298448" cy="43891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1247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1.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1887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1298448" cy="146304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664208"/>
            <a:ext cx="1188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Type · Condition
Photos · Price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2788" y="1078992"/>
            <a:ext cx="1298448" cy="43891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96796" y="11247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2. 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1236" y="11887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2788" y="1600200"/>
            <a:ext cx="1298448" cy="146304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96796" y="1664208"/>
            <a:ext cx="1188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Search / Feed
Community browse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91256" y="1078992"/>
            <a:ext cx="1298448" cy="43891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5263" y="11247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3.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11887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91256" y="1600200"/>
            <a:ext cx="1298448" cy="146304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55263" y="1664208"/>
            <a:ext cx="1188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Buyer sends
request → Pending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9724" y="1078992"/>
            <a:ext cx="1298448" cy="43891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3732" y="11247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4. 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8172" y="11887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49724" y="1600200"/>
            <a:ext cx="1298448" cy="146304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3732" y="1664208"/>
            <a:ext cx="1188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Seller accepts
→ Reserved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1078992"/>
            <a:ext cx="1298448" cy="43891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11247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5. 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1887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1600200"/>
            <a:ext cx="1298448" cy="146304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1664208"/>
            <a:ext cx="1188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Auto thread
opened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66660" y="1078992"/>
            <a:ext cx="1298448" cy="43891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0668" y="11247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6. Deliver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5108" y="11887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66660" y="1600200"/>
            <a:ext cx="1298448" cy="146304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0668" y="1664208"/>
            <a:ext cx="1188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In-person or
postal + tracking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25128" y="1078992"/>
            <a:ext cx="1298448" cy="43891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11247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7. Complete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23576" y="118872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25128" y="1600200"/>
            <a:ext cx="1298448" cy="146304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89136" y="1664208"/>
            <a:ext cx="1188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Buyer confirms
receipt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83596" y="1078992"/>
            <a:ext cx="1298448" cy="43891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47604" y="11247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8. Rate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83596" y="1600200"/>
            <a:ext cx="1298448" cy="146304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47604" y="1664208"/>
            <a:ext cx="1188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Mutual stars
update reputation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200400"/>
            <a:ext cx="11567160" cy="22860"/>
          </a:xfrm>
          <a:prstGeom prst="rect">
            <a:avLst/>
          </a:prstGeom>
          <a:solidFill>
            <a:srgbClr val="CFD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3337560"/>
            <a:ext cx="5623560" cy="1097280"/>
          </a:xfrm>
          <a:prstGeom prst="rect">
            <a:avLst/>
          </a:prstGeom>
          <a:solidFill>
            <a:srgbClr val="FFF8E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3401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3500"/>
                </a:solidFill>
              </a:rPr>
              <a:t>⚠️  Dispute 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3675887"/>
            <a:ext cx="53949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Either party can raise a dispute. A moderator reviews and resolves or rejects via a structured ModerationAction.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9632" y="3337560"/>
            <a:ext cx="562356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3401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</a:rPr>
              <a:t>✅  Reputation Impact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675887"/>
            <a:ext cx="53949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Completion awards positive delta to both sides. Disputes and cancellations carry negative deltas — keeping quality high.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C0"/>
                </a:solidFill>
              </a:rPr>
              <a:t>BookBridge  ·  Business Overview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6583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C0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Trust &amp; Reputation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The engine that makes peer-to-peer sharing 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0698480" cy="16459"/>
          </a:xfrm>
          <a:prstGeom prst="rect">
            <a:avLst/>
          </a:prstGeom>
          <a:solidFill>
            <a:srgbClr val="CFD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548640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548640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Score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347472" cy="47548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554480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</a:rPr>
              <a:t>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453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Transaction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830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</a:rPr>
              <a:t>Every successful handoff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67128"/>
            <a:ext cx="347472" cy="47548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212848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</a:rPr>
              <a:t>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037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Rating received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414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</a:rPr>
              <a:t>1–5 stars from counterparty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25496"/>
            <a:ext cx="347472" cy="47548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871215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</a:rPr>
              <a:t>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620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Community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099815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</a:rPr>
              <a:t>Awarded by moderator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66160"/>
            <a:ext cx="347472" cy="43891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611879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</a:rPr>
              <a:t>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60273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Dispute upheld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822191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</a:rPr>
              <a:t>Against the reported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33087"/>
            <a:ext cx="347472" cy="43891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4178807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</a:rPr>
              <a:t>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169663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Cancellation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3891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</a:rPr>
              <a:t>Backing out of accepted deal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700016"/>
            <a:ext cx="347472" cy="43891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4745736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</a:rPr>
              <a:t>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73659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Report upheld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9560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</a:rPr>
              <a:t>Confirmed bad behaviour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266944"/>
            <a:ext cx="347472" cy="43891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5312664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</a:rPr>
              <a:t>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30352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Time decay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5229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</a:rPr>
              <a:t>Periodic reduction for inactivity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1024128"/>
            <a:ext cx="544068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1024128"/>
            <a:ext cx="544068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10789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Reputation Tiers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1536192"/>
            <a:ext cx="5166360" cy="91440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46520" y="1536192"/>
            <a:ext cx="45720" cy="914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171907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>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59168" y="16276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New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59168" y="1947672"/>
            <a:ext cx="4434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Starting tier — building first impressions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2587752"/>
            <a:ext cx="5166360" cy="91440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46520" y="2587752"/>
            <a:ext cx="45720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277063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>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59168" y="26791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Trusted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59168" y="2999232"/>
            <a:ext cx="4434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Consistent completions, positive ratings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3639311"/>
            <a:ext cx="5166360" cy="91440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46520" y="3639311"/>
            <a:ext cx="4572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5392" y="3822191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>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9168" y="373075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Reliable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59168" y="4050791"/>
            <a:ext cx="4434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Strong track record, low dispute rate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6520" y="4690872"/>
            <a:ext cx="5166360" cy="91440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46520" y="4690872"/>
            <a:ext cx="45720" cy="914400"/>
          </a:xfrm>
          <a:prstGeom prst="rect">
            <a:avLst/>
          </a:prstGeom>
          <a:solidFill>
            <a:srgbClr val="09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65392" y="48737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>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7823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Veteran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9168" y="5102352"/>
            <a:ext cx="4434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Top tier — community pillar, unlocks trust signals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C0"/>
                </a:solidFill>
              </a:rPr>
              <a:t>BookBridge  ·  Business Overview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60" y="6583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C0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Communities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Scoped sub-networks — universities, locations, genres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0698480" cy="16459"/>
          </a:xfrm>
          <a:prstGeom prst="rect">
            <a:avLst/>
          </a:prstGeom>
          <a:solidFill>
            <a:srgbClr val="CFD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3657600" cy="1664208"/>
          </a:xfrm>
          <a:prstGeom prst="rect">
            <a:avLst/>
          </a:prstGeom>
          <a:solidFill>
            <a:srgbClr val="EFF5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7043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188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HUST, UET, RMIT…
Closed academic circles for textbook sharing within a campus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24128"/>
            <a:ext cx="3657600" cy="1664208"/>
          </a:xfrm>
          <a:prstGeom prst="rect">
            <a:avLst/>
          </a:prstGeom>
          <a:solidFill>
            <a:srgbClr val="EFF5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24128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17043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188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60020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District, city, or neighbourhood
— local book swaps made easy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024128"/>
            <a:ext cx="3657600" cy="1664208"/>
          </a:xfrm>
          <a:prstGeom prst="rect">
            <a:avLst/>
          </a:prstGeom>
          <a:solidFill>
            <a:srgbClr val="EFF5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024128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117043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188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Genre / Interest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160020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Non-fiction, Sci-fi, Vietnamese Lit
— passion-driven reading circles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907792"/>
            <a:ext cx="3657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907792"/>
            <a:ext cx="45720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0175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Public &amp; Private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28416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Private communities need an invite code — closed book clubs, department groups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2907792"/>
            <a:ext cx="3657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2907792"/>
            <a:ext cx="45720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0175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Community Posts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328416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Members post discussions; liked, commented, pinned by moderators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2907792"/>
            <a:ext cx="3657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2907792"/>
            <a:ext cx="45720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59" y="30175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Scoped Listings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59" y="3328416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Listings visible only to community members — reduces noise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206240"/>
            <a:ext cx="3657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206240"/>
            <a:ext cx="45720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31596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Points Leaderboard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626864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communityPoints earned through likes, comments, and activity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4206240"/>
            <a:ext cx="3657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4206240"/>
            <a:ext cx="45720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431596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Moderator Hierarchy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626864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Owner → Moderator → Member with promote/demote controls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79" y="4206240"/>
            <a:ext cx="3657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83879" y="4206240"/>
            <a:ext cx="45720" cy="11704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59" y="431596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Activity Notifications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59" y="4626864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All members notified of new posts; authors alerted on likes &amp; comments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C0"/>
                </a:solidFill>
              </a:rPr>
              <a:t>BookBridge  ·  Business Overview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583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C0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Discovery &amp; Social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How readers find the right book at the right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0698480" cy="16459"/>
          </a:xfrm>
          <a:prstGeom prst="rect">
            <a:avLst/>
          </a:prstGeom>
          <a:solidFill>
            <a:srgbClr val="CFD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576072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45720" cy="11338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15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🔍  Full-Text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Title, author, or ISBN. Filter by genre, condition, and transaction type (Gift / Exchange / Sell).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86000"/>
            <a:ext cx="576072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286000"/>
            <a:ext cx="45720" cy="11338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🌐  Explore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0662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Public browse — no login required. Great for acquisition and first impressions.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47872"/>
            <a:ext cx="576072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547872"/>
            <a:ext cx="45720" cy="11338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393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📰  Personalized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68496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Follow users. New listings fan-out into your feed in real time via Server-Sent Events.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809744"/>
            <a:ext cx="576072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809744"/>
            <a:ext cx="45720" cy="11338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901183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🏘️  Community Browse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3036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Listings and posts scoped to a group — less noise, higher relevance.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024128"/>
            <a:ext cx="5166360" cy="4983480"/>
          </a:xfrm>
          <a:prstGeom prst="rect">
            <a:avLst/>
          </a:prstGeom>
          <a:solidFill>
            <a:srgbClr val="EFF5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1024128"/>
            <a:ext cx="516636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10789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Social Graph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48272" y="1645920"/>
            <a:ext cx="237744" cy="237744"/>
          </a:xfrm>
          <a:prstGeom prst="rect">
            <a:avLst/>
          </a:prstGeom>
          <a:solidFill>
            <a:srgbClr val="D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7416" y="160934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1627632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Follow / unfollow any user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48272" y="2212848"/>
            <a:ext cx="237744" cy="237744"/>
          </a:xfrm>
          <a:prstGeom prst="rect">
            <a:avLst/>
          </a:prstGeom>
          <a:solidFill>
            <a:srgbClr val="D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7416" y="217627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219456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Follower + following counts on 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48272" y="2779776"/>
            <a:ext cx="237744" cy="237744"/>
          </a:xfrm>
          <a:prstGeom prst="rect">
            <a:avLst/>
          </a:prstGeom>
          <a:solidFill>
            <a:srgbClr val="D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7416" y="27432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276148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Feed populated on publish (fan-out write)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48272" y="3346704"/>
            <a:ext cx="237744" cy="237744"/>
          </a:xfrm>
          <a:prstGeom prst="rect">
            <a:avLst/>
          </a:prstGeom>
          <a:solidFill>
            <a:srgbClr val="D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57416" y="331012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332841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Real-time delivery via SSE (no polling)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48272" y="3913632"/>
            <a:ext cx="237744" cy="237744"/>
          </a:xfrm>
          <a:prstGeom prst="rect">
            <a:avLst/>
          </a:prstGeom>
          <a:solidFill>
            <a:srgbClr val="D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57416" y="3877056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9168" y="3895344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New listing notification to all followers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48272" y="4480560"/>
            <a:ext cx="237744" cy="237744"/>
          </a:xfrm>
          <a:prstGeom prst="rect">
            <a:avLst/>
          </a:prstGeom>
          <a:solidFill>
            <a:srgbClr val="D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57416" y="444398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4462272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Profile shows tier, bio, genres, district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48272" y="5047488"/>
            <a:ext cx="237744" cy="237744"/>
          </a:xfrm>
          <a:prstGeom prst="rect">
            <a:avLst/>
          </a:prstGeom>
          <a:solidFill>
            <a:srgbClr val="D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57416" y="501091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</a:rPr>
              <a:t>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9168" y="5029199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Public profiles — no login to 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C0"/>
                </a:solidFill>
              </a:rPr>
              <a:t>BookBridge  ·  Business Overview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6583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C0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Notifications &amp; Messaging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Keeping every participant in the loop, in real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0698480" cy="16459"/>
          </a:xfrm>
          <a:prstGeom prst="rect">
            <a:avLst/>
          </a:prstGeom>
          <a:solidFill>
            <a:srgbClr val="CFD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9 Notification Kinds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801368" cy="45720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📦  New listing from followed 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417320"/>
            <a:ext cx="1801368" cy="45720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481328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🔄  Transaction status changed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1801368" cy="45720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481328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💬  New direct message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84248"/>
            <a:ext cx="1801368" cy="45720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48255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📢  Community announcement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984248"/>
            <a:ext cx="1801368" cy="45720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2048255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⭐  Reputation tier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984248"/>
            <a:ext cx="1801368" cy="45720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048255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🛡️  Moderation action taken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551176"/>
            <a:ext cx="1801368" cy="45720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15184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📝  New post in your community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551176"/>
            <a:ext cx="1801368" cy="45720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3160" y="2615184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❤️  Your post was liked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2551176"/>
            <a:ext cx="1801368" cy="45720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615184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🗨️  New comment on your post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200400"/>
            <a:ext cx="5760720" cy="22860"/>
          </a:xfrm>
          <a:prstGeom prst="rect">
            <a:avLst/>
          </a:prstGeom>
          <a:solidFill>
            <a:srgbClr val="CFD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3101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Email Preferences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675887"/>
            <a:ext cx="1755648" cy="77724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3730752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Immediate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" y="3986784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Every event triggers an email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3675887"/>
            <a:ext cx="1755648" cy="77724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32888" y="3730752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Daily Digest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32888" y="3986784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Bundled once per 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3675887"/>
            <a:ext cx="1755648" cy="777240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4568" y="3730752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3986784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In-app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1024128"/>
            <a:ext cx="516636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1024128"/>
            <a:ext cx="516636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10789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💬  Real-Time Messaging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48272" y="1572768"/>
            <a:ext cx="4828032" cy="685800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1627632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1-to-1 chat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1901952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Private conversations between any two users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48272" y="2377440"/>
            <a:ext cx="4828032" cy="685800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2432304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Transaction-linked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706624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Thread auto-opens when a deal is accepted — full context always visible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48272" y="3182112"/>
            <a:ext cx="4828032" cy="685800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03720" y="3236976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Server-Sent Events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3511296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Instant delivery with no WebSocket overhead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48272" y="3986784"/>
            <a:ext cx="4828032" cy="685800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03720" y="4041648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Reportable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4315968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Any message can be reported directly to moderation queue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48272" y="4791456"/>
            <a:ext cx="4828032" cy="685800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03720" y="4846320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Persistent history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5120640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Full conversation stored; no ephemeral-only sessions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C0"/>
                </a:solidFill>
              </a:rPr>
              <a:t>BookBridge  ·  Business Overview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6583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C0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Moderation &amp; Platform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Structured, fair, transparent —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0698480" cy="16459"/>
          </a:xfrm>
          <a:prstGeom prst="rect">
            <a:avLst/>
          </a:prstGeom>
          <a:solidFill>
            <a:srgbClr val="CFD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What Can Be Reported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1755648" cy="475488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444752"/>
            <a:ext cx="1572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👤  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371600"/>
            <a:ext cx="1755648" cy="475488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444752"/>
            <a:ext cx="1572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📦  Listing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1755648" cy="475488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444752"/>
            <a:ext cx="1572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🔄  Transaction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1755648" cy="475488"/>
          </a:xfrm>
          <a:prstGeom prst="rect">
            <a:avLst/>
          </a:prstGeom>
          <a:solidFill>
            <a:srgbClr val="EFF5FF"/>
          </a:solidFill>
          <a:ln w="6350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44752"/>
            <a:ext cx="1572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💬 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011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Moderator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359152"/>
            <a:ext cx="36576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359152"/>
            <a:ext cx="45720" cy="78638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43230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⚠️  Warn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7249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Formal warning recorded — no immediate restriction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359152"/>
            <a:ext cx="36576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2359152"/>
            <a:ext cx="45720" cy="78638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43230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🗑️  Remove Listing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249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Listing taken down and flagged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2359152"/>
            <a:ext cx="36576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2359152"/>
            <a:ext cx="45720" cy="78638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9" y="243230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🔇  Suspend 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27249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Account suspended; cannot transact or post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273552"/>
            <a:ext cx="36576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273552"/>
            <a:ext cx="45720" cy="78638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34670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✅  Resolve Dispute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6393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Moderator rules on disputed transaction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273552"/>
            <a:ext cx="36576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3273552"/>
            <a:ext cx="45720" cy="78638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334670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❌  Reject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6393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Report found unfounded — no action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3273552"/>
            <a:ext cx="36576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79" y="3273552"/>
            <a:ext cx="45720" cy="78638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59" y="334670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🔄  Restore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59" y="36393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Lift suspension or re-activate listing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279392"/>
            <a:ext cx="11320272" cy="22860"/>
          </a:xfrm>
          <a:prstGeom prst="rect">
            <a:avLst/>
          </a:prstGeom>
          <a:solidFill>
            <a:srgbClr val="CFD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4407408"/>
            <a:ext cx="5440680" cy="1143000"/>
          </a:xfrm>
          <a:prstGeom prst="rect">
            <a:avLst/>
          </a:prstGeom>
          <a:solidFill>
            <a:srgbClr val="FFF8E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4805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3500"/>
                </a:solidFill>
              </a:rPr>
              <a:t>🤖  Auto-Flagging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477316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System can auto-generate reports on suspicious patterns — feeds the queue without requiring manual user reports.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4407408"/>
            <a:ext cx="5440680" cy="1143000"/>
          </a:xfrm>
          <a:prstGeom prst="rect">
            <a:avLst/>
          </a:prstGeom>
          <a:solidFill>
            <a:srgbClr val="F0FDF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4805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</a:rPr>
              <a:t>🛡️  Admin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77316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Separate /admin route for platform-wide oversight: manage users, listings, and communities at system level.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C0"/>
                </a:solidFill>
              </a:rPr>
              <a:t>BookBridge  ·  Business Overview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6583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C0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User Roles &amp; Access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Clear permissions at every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0698480" cy="16459"/>
          </a:xfrm>
          <a:prstGeom prst="rect">
            <a:avLst/>
          </a:prstGeom>
          <a:solidFill>
            <a:srgbClr val="CFD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024128"/>
            <a:ext cx="2697480" cy="47731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024128"/>
            <a:ext cx="2697480" cy="5669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078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👁️  Guest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4264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1D5DB"/>
                </a:solidFill>
              </a:rPr>
              <a:t>No account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1783080"/>
            <a:ext cx="54864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6479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Browse public listings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2258568"/>
            <a:ext cx="54864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Full-text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2734056"/>
            <a:ext cx="54864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1576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View public profiles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3209544"/>
            <a:ext cx="54864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9125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Explore page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27832" y="1024128"/>
            <a:ext cx="2697480" cy="47731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27832" y="1024128"/>
            <a:ext cx="2697480" cy="5669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4991" y="1078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👤  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4991" y="14264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1D5DB"/>
                </a:solidFill>
              </a:rPr>
              <a:t>Verified account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92424" y="1783080"/>
            <a:ext cx="54864" cy="2194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39" y="176479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Create &amp; manage listings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92424" y="2258568"/>
            <a:ext cx="54864" cy="2194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39" y="224028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Request transactions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92424" y="2734056"/>
            <a:ext cx="54864" cy="2194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39" y="271576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Rate counterparty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92424" y="3209544"/>
            <a:ext cx="54864" cy="2194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39" y="319125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Follow users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92424" y="3685032"/>
            <a:ext cx="54864" cy="2194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39" y="366674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Join communities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92424" y="4160520"/>
            <a:ext cx="54864" cy="2194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39" y="414223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Send messages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1024128"/>
            <a:ext cx="2697480" cy="47731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08192" y="1024128"/>
            <a:ext cx="2697480" cy="566928"/>
          </a:xfrm>
          <a:prstGeom prst="rect">
            <a:avLst/>
          </a:prstGeom>
          <a:solidFill>
            <a:srgbClr val="09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45352" y="1078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🔧  Moderator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5352" y="14264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1D5DB"/>
                </a:solidFill>
              </a:rPr>
              <a:t>Elevated community role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2783" y="1783080"/>
            <a:ext cx="54864" cy="219456"/>
          </a:xfrm>
          <a:prstGeom prst="rect">
            <a:avLst/>
          </a:prstGeom>
          <a:solidFill>
            <a:srgbClr val="09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76479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All User capabilities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2783" y="2258568"/>
            <a:ext cx="54864" cy="219456"/>
          </a:xfrm>
          <a:prstGeom prst="rect">
            <a:avLst/>
          </a:prstGeom>
          <a:solidFill>
            <a:srgbClr val="09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24028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Moderation queue access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2783" y="2734056"/>
            <a:ext cx="54864" cy="219456"/>
          </a:xfrm>
          <a:prstGeom prst="rect">
            <a:avLst/>
          </a:prstGeom>
          <a:solidFill>
            <a:srgbClr val="09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271576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Take moderation actions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72783" y="3209544"/>
            <a:ext cx="54864" cy="219456"/>
          </a:xfrm>
          <a:prstGeom prst="rect">
            <a:avLst/>
          </a:prstGeom>
          <a:solidFill>
            <a:srgbClr val="09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19125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Award community points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72783" y="3685032"/>
            <a:ext cx="54864" cy="219456"/>
          </a:xfrm>
          <a:prstGeom prst="rect">
            <a:avLst/>
          </a:prstGeom>
          <a:solidFill>
            <a:srgbClr val="09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66674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Pin posts · Promote members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88552" y="1024128"/>
            <a:ext cx="2697480" cy="47731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88552" y="1024128"/>
            <a:ext cx="2697480" cy="566928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5712" y="1078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⚙️  Admin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5712" y="14264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1D5DB"/>
                </a:solidFill>
              </a:rPr>
              <a:t>Platform authority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53144" y="1783080"/>
            <a:ext cx="54864" cy="219456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81160" y="176479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Full platform access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53144" y="2258568"/>
            <a:ext cx="54864" cy="219456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81160" y="224028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Admin dashboard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53144" y="2734056"/>
            <a:ext cx="54864" cy="219456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271576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System moderation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53144" y="3209544"/>
            <a:ext cx="54864" cy="219456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81160" y="319125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User management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53144" y="3685032"/>
            <a:ext cx="54864" cy="219456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81160" y="366674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Override any action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7472" y="5897880"/>
            <a:ext cx="11430000" cy="502920"/>
          </a:xfrm>
          <a:prstGeom prst="rect">
            <a:avLst/>
          </a:prstGeom>
          <a:solidFill>
            <a:srgbClr val="EFF5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5943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Account lifecycle:  Pending Verification  →  Active  →  Suspended / Deleted  ·  Email verification required before Active.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C0"/>
                </a:solidFill>
              </a:rPr>
              <a:t>BookBridge  ·  Business Overview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81360" y="6583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C0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Business Model &amp; Market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How BookBridge creates and captures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10698480" cy="16459"/>
          </a:xfrm>
          <a:prstGeom prst="rect">
            <a:avLst/>
          </a:prstGeom>
          <a:solidFill>
            <a:srgbClr val="CFD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11320272" cy="6217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Positioning — BookBridge is a social trust network for book circulation, not a marketplace.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47088"/>
            <a:ext cx="5468112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47088"/>
            <a:ext cx="45720" cy="1508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>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116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Campus-First GTM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50008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Launch within universities — where textbook pain is sharpest. Partner with student unions and library programs for distribution and trust bootstrap.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47088"/>
            <a:ext cx="5468112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47088"/>
            <a:ext cx="45720" cy="1508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0116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Network 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350008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Value compounds: more givers → more receivers → more ratings → stronger trust → more engagement. Each user makes the platform better for everyone.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511296"/>
            <a:ext cx="5468112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511296"/>
            <a:ext cx="45720" cy="1508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67588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675887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Monetization Paths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14215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Premium verified-seller badge · University partnership licensing · Local business listing sponsorships · API for library integrations.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511296"/>
            <a:ext cx="5468112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511296"/>
            <a:ext cx="45720" cy="1508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67588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675887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Defensible Moat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014215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Reputation equity. A user's ReputationScore and community standing can't be transferred to another platform — switching cost grows with every transaction.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239512"/>
            <a:ext cx="11320272" cy="22860"/>
          </a:xfrm>
          <a:prstGeom prst="rect">
            <a:avLst/>
          </a:prstGeom>
          <a:solidFill>
            <a:srgbClr val="CFD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349240"/>
            <a:ext cx="11320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Price cap enforcement is intentional — it keeps BookBridge non-commercial, builds social goodwill, and differentiates from generic resale apps.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C0"/>
                </a:solidFill>
              </a:rPr>
              <a:t>BookBridge  ·  Business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83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C0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2834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BookBridge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3C5FD"/>
                </a:solidFill>
              </a:rPr>
              <a:t>Share books.  Build trust.  Keep stories moving.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ED8FF"/>
                </a:solidFill>
              </a:rPr>
              <a:t>✓  Community-driven platform for second-hand book circulation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62763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ED8FF"/>
                </a:solidFill>
              </a:rPr>
              <a:t>✓  End-to-end transaction state machine with full audit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7510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ED8FF"/>
                </a:solidFill>
              </a:rPr>
              <a:t>✓  Reputation system with atomic score events and tiers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97510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ED8FF"/>
                </a:solidFill>
              </a:rPr>
              <a:t>✓  Sub-communities: university, location, and genre scoped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2257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ED8FF"/>
                </a:solidFill>
              </a:rPr>
              <a:t>✓  Real-time feed, messaging, and 9-kind notifications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32257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ED8FF"/>
                </a:solidFill>
              </a:rPr>
              <a:t>✓  Structured moderation queue with admin oversight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2889504"/>
            <a:ext cx="12188952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35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Next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493008"/>
            <a:ext cx="272491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493008"/>
            <a:ext cx="2724912" cy="38404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493008"/>
            <a:ext cx="45720" cy="22128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🚀  Production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50208"/>
            <a:ext cx="245059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Run prisma migrate deploy on Vercel production DB; smoke-test all critical flows end-to-end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493008"/>
            <a:ext cx="272491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3493008"/>
            <a:ext cx="2724912" cy="38404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493008"/>
            <a:ext cx="45720" cy="22128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5478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🔔  Email 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950208"/>
            <a:ext cx="245059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Wire dispatcher to SendGrid/Resend for immediate, digest, and off preferences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93008"/>
            <a:ext cx="272491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493008"/>
            <a:ext cx="2724912" cy="38404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493008"/>
            <a:ext cx="45720" cy="22128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5478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📊 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950208"/>
            <a:ext cx="245059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Lightweight event tracking: page views, listing clicks, conversion funnel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59" y="3493008"/>
            <a:ext cx="272491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59" y="3493008"/>
            <a:ext cx="2724912" cy="38404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559" y="3493008"/>
            <a:ext cx="45720" cy="22128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39" y="35478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💳  Monetization 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39" y="3950208"/>
            <a:ext cx="245059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University partnership pilot — measure engagement before adding premium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9436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</a:rPr>
              <a:t>Next.js 14  ·  PostgreSQL  ·  Prisma  ·  Vercel  ·  Team Zootopia — SE Capstone 2025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C0"/>
                </a:solidFill>
              </a:rPr>
              <a:t>BookBridge  ·  Business Overview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583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C0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