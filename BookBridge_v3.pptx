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0" y="-1371600"/>
            <a:ext cx="4114800" cy="4114800"/>
          </a:xfrm>
          <a:prstGeom prst="ellipse">
            <a:avLst/>
          </a:prstGeom>
          <a:solidFill>
            <a:srgbClr val="226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4754880"/>
            <a:ext cx="2743200" cy="2743200"/>
          </a:xfrm>
          <a:prstGeom prst="ellipse">
            <a:avLst/>
          </a:prstGeom>
          <a:solidFill>
            <a:srgbClr val="144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D2FF"/>
                </a:solidFill>
              </a:rPr>
              <a:t>Share books. Build trust.
Keep stories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B9FF"/>
                </a:solidFill>
              </a:rPr>
              <a:t>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640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What is BookBridge?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097280"/>
            <a:ext cx="54864" cy="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170432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</a:rPr>
              <a:t>A community-driven platform for second-hand book sharing among students and local readers.
Users gift, exchange, or sell pre-owned books at symbolic prices — underpinned by a trust-driven reputation system and scoped sub-communities for universities, neighbourhoods, and reading circles.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246120"/>
            <a:ext cx="1371600" cy="14630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3246120"/>
            <a:ext cx="1371600" cy="36576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3337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55E8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9319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Transaction
Modes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3246120"/>
            <a:ext cx="1371600" cy="14630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96912" y="3246120"/>
            <a:ext cx="1371600" cy="36576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337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55E8"/>
                </a:solidFill>
              </a:rPr>
              <a:t>8+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39319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Core
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4" y="3246120"/>
            <a:ext cx="1371600" cy="14630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3104" y="3246120"/>
            <a:ext cx="1371600" cy="36576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3104" y="3337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55E8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39319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User
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3246120"/>
            <a:ext cx="1371600" cy="14630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69296" y="3246120"/>
            <a:ext cx="1371600" cy="36576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3337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855E8"/>
                </a:solidFill>
              </a:rPr>
              <a:t>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9296" y="39319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</a:rPr>
              <a:t>Stories
Shared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98348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Built with Next.js 14 · PostgreSQL · Prisma · Vercel
Team Zootopia — 2025 Software Engineering Capstone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Why students and readers need something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2606040" cy="4572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Books Go to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Millions of textbooks sit unused after each semester — students have no trusted, friction-free channel to pass them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1430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143000"/>
            <a:ext cx="2606040" cy="4572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Cost of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395728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New textbooks are prohibitively expensive. Students desperately need gift, exchange, or low-cost resale options.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1430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143000"/>
            <a:ext cx="2606040" cy="4572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No Trust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395728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Generic marketplaces lack the reputation infrastructure needed for safe peer-to-peer sharing within academic circles.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1976" y="1143000"/>
            <a:ext cx="2606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1143000"/>
            <a:ext cx="2606040" cy="4572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6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F172A"/>
                </a:solidFill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1993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Fragmented Communities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395728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University and neighbourhood reading groups have no dedicated space to share books, coordinate swaps, and build culture.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32120"/>
            <a:ext cx="11109960" cy="71323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96128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359A"/>
                </a:solidFill>
              </a:rPr>
              <a:t>💡  BookBridge is the answer — a trusted social network for book circulation, scoped to the communities that matter most.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Product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Eight integrated features, one coherent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📖  Book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Gift · Exchange · Sell
Condition ratings + photos
Community-scoped or public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618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🔍 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642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Full-text search by title,
author, or ISBN
Personalised social 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618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🔄 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642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8-step state machine
Full audit trail
In-person or postal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2618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💬 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66420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Real-time 1-to-1 chat
Transaction-linked threads
Server-Sent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661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⭐  Reputation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4164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Atomic score events
Reputation tiers
Trust visible on every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5661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56616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🏘️  Communities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4164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University · Location · Genre
Posts, likes, comments
Points leaderboard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5661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56616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🔔 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4164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9 notification kinds
In-app + email preferences
Real-time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35661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566160"/>
            <a:ext cx="2743200" cy="38404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🛡️  Moderation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04164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Structured report queue
Warn · Remove · Suspend
Admin 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How a Book Changes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End-to-end transaction state machine — from listing to reputation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5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Seller creates listing:
condition, photos,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12" name="Oval 11"/>
          <p:cNvSpPr/>
          <p:nvPr/>
        </p:nvSpPr>
        <p:spPr>
          <a:xfrm>
            <a:off x="2240280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512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3664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Buyer finds via search,
feed, or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18" name="Oval 17"/>
          <p:cNvSpPr/>
          <p:nvPr/>
        </p:nvSpPr>
        <p:spPr>
          <a:xfrm>
            <a:off x="3666744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6744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6976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Buyer sends request
→ status: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24" name="Oval 23"/>
          <p:cNvSpPr/>
          <p:nvPr/>
        </p:nvSpPr>
        <p:spPr>
          <a:xfrm>
            <a:off x="5093207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7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Accept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Seller accepts
→ listing: Reserved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1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9904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Auto thread opens
for coordination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5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36" name="Oval 35"/>
          <p:cNvSpPr/>
          <p:nvPr/>
        </p:nvSpPr>
        <p:spPr>
          <a:xfrm>
            <a:off x="7946136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6136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Ship + tracking
or in-person handoff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42" name="Oval 41"/>
          <p:cNvSpPr/>
          <p:nvPr/>
        </p:nvSpPr>
        <p:spPr>
          <a:xfrm>
            <a:off x="9372600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42832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5984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5984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Buyer confirms
→ status: Completed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37744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855E8"/>
                </a:solidFill>
              </a:rPr>
              <a:t>›</a:t>
            </a:r>
          </a:p>
        </p:txBody>
      </p:sp>
      <p:sp>
        <p:nvSpPr>
          <p:cNvPr id="48" name="Oval 47"/>
          <p:cNvSpPr/>
          <p:nvPr/>
        </p:nvSpPr>
        <p:spPr>
          <a:xfrm>
            <a:off x="10799064" y="1143000"/>
            <a:ext cx="457200" cy="457200"/>
          </a:xfrm>
          <a:prstGeom prst="ellipse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99064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69296" y="1719072"/>
            <a:ext cx="1316736" cy="169164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42448" y="177393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42448" y="2084831"/>
            <a:ext cx="1170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Mutual star ratings
update reputation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3611880"/>
            <a:ext cx="5349240" cy="987552"/>
          </a:xfrm>
          <a:prstGeom prst="rect">
            <a:avLst/>
          </a:prstGeom>
          <a:solidFill>
            <a:srgbClr val="FFF8E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6758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⚠️  Dispute 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98678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Either party can raise a dispute at any point. A moderator reviews and resolves or rejects via a structured moderation action.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3611880"/>
            <a:ext cx="5349240" cy="987552"/>
          </a:xfrm>
          <a:prstGeom prst="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36758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✅  Reputation Impact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986784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Completion awards positive score to both buyer and seller. Disputes and cancellations carry negative deltas — keeping incentives aligned.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48006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Seller can also Waitlist or Decline a request. Accepted request auto-opens a conversation thread and locks the listing.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Trust &amp; Reputation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The layer that makes peer-to-peer sharing safe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Score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Transaction completed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84832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Positive rating received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786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Community contribution (mod-awarded)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35808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05409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Dispute upheld against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11296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529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Cancellation penalty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86784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867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Report upheld by moderator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62272"/>
            <a:ext cx="292608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622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8055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Periodic time decay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Reputation Tiers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572768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1572768"/>
            <a:ext cx="54864" cy="86868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New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19933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Starting tier — building first impressions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596896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2596896"/>
            <a:ext cx="54864" cy="868680"/>
          </a:xfrm>
          <a:prstGeom prst="rect">
            <a:avLst/>
          </a:prstGeom>
          <a:solidFill>
            <a:srgbClr val="0369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761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26883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Trusted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30175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Consistent completions, positive ratings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621024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3621024"/>
            <a:ext cx="54864" cy="868680"/>
          </a:xfrm>
          <a:prstGeom prst="rect">
            <a:avLst/>
          </a:prstGeom>
          <a:solidFill>
            <a:srgbClr val="075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378561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37124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Reliable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472" y="404164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Strong track record, low dispute rate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4645152"/>
            <a:ext cx="5120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4645152"/>
            <a:ext cx="54864" cy="868680"/>
          </a:xfrm>
          <a:prstGeom prst="rect">
            <a:avLst/>
          </a:prstGeom>
          <a:solidFill>
            <a:srgbClr val="0D3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4809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172A"/>
                </a:solidFill>
              </a:rPr>
              <a:t>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Veteran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5472" y="506577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Top tier — unlocks trust signals, community pillar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Scoped sub-networks — universities, neighbourhoods, reading circles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3566160" cy="15727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356616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3273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Closed academic circles for textbook sharing within a campus (e.g. HUST, UET, RMIT)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170432"/>
            <a:ext cx="3566160" cy="15727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170432"/>
            <a:ext cx="356616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19072"/>
            <a:ext cx="3273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District, city, or neighbourhood groups — ideal for local book swaps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1170432"/>
            <a:ext cx="3566160" cy="15727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1170432"/>
            <a:ext cx="356616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13258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F172A"/>
                </a:solidFill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Genre / Interest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719072"/>
            <a:ext cx="3273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Passion-driven reading circles: Non-fiction, Sci-fi, Vietnamese Lit…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4436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358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🔒  Public &amp; Private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6499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Private groups require an invite code — great for closed reading clubs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94436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358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📝  Community 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6499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Members post, like, comment; moderators can pin important announcements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4164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3308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📦  Scoped Listings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6227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Listings published to a community are only visible to its members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04164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33087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🏅  Points Leaderboard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6227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communityPoints earned via likes, comments, and moderated contributions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3892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30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👑  Moderator Hierarchy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5955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Owner → Moderator → Member with promote/demote controls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138928"/>
            <a:ext cx="5486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2303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🔔  Activity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55955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All members notified on new posts; authors alerted on likes and comments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Discovery &amp; Social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How readers find the right books at the right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54864" cy="105156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70432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29844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Full-Text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27632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Search by title, author, or ISBN.
Filter by genre, condition, and transaction type (Gift / Exchange / Sell).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32304"/>
            <a:ext cx="54864" cy="105156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32304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5603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Explore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889504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Public browse — no login required.
Lowers the acquisition barrier; first impressions before sign-up.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94176"/>
            <a:ext cx="54864" cy="105156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694176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039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822191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Personalised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151376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Follow any user. Every listing they publish fans into your feed in real time via Server-Sent Events.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956048"/>
            <a:ext cx="54864" cy="105156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956048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657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08406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Community Browse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13248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Within a community, members see listings and posts scoped only to that group — less noise, more relevance.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170432"/>
            <a:ext cx="5029200" cy="48006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12435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Social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1828800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79222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Follow / unfollow any user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2450592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241401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Follower + following counts on every profile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072384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03580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Feed populated on publish — fan-out write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03720" y="3694176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65760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Real-time delivery via Server-Sent Events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4315968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4279392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New listing notification sent to all followers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3720" y="4937760"/>
            <a:ext cx="54864" cy="34747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490118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Profiles show reputation tier, bio, genres, district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Notifications &amp;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Every participant stays in context — instantly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9 Notification Kinds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📦  New listing from followed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4872" y="1572768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6276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🔄  Transaction status 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572768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6276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💬  New direct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84832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39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📢  Community announcement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2084832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2139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⭐  Reputation tier 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084832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213969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🛡️  Moderation action taken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96896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517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📝  New post in your community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04872" y="2596896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6517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❤️  Your post was liked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2596896"/>
            <a:ext cx="17830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26517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🗨️  New comment on your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145536"/>
            <a:ext cx="57150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Email Preferences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39312"/>
            <a:ext cx="1755648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7033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55E8"/>
                </a:solidFill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39867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Every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3639312"/>
            <a:ext cx="1755648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32888" y="37033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55E8"/>
                </a:solidFill>
              </a:rPr>
              <a:t>Daily Digest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32888" y="39867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Bundled daily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39312"/>
            <a:ext cx="1755648" cy="74980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37033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55E8"/>
                </a:solidFill>
              </a:rPr>
              <a:t>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398678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In-app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143000"/>
            <a:ext cx="50292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1143000"/>
            <a:ext cx="502920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2618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💬  Real-Time Messaging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1719072"/>
            <a:ext cx="452628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17830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1-to-1 Chat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06654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Private conversations between any two users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496312"/>
            <a:ext cx="452628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25603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Transaction-Linked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8437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Auto-opened thread on acceptance — context always at hand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273552"/>
            <a:ext cx="452628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33375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Server-Sent Events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36210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Real-time delivery without WebSocket complexity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4050791"/>
            <a:ext cx="452628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41148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Reportable Messages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3982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Any message can be flagged; lands in the moderation queue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828031"/>
            <a:ext cx="4526280" cy="658368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489204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Persistent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17550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Full message history stored — no ephemeral-only threads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Moderation &amp; Platform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Structured, fair, transparent — trust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Reportable Objects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1719072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9961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👤 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44752"/>
            <a:ext cx="1719072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49961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📦  Listing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44752"/>
            <a:ext cx="1719072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961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🔄 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444752"/>
            <a:ext cx="1719072" cy="43891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499616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59A"/>
                </a:solidFill>
              </a:rPr>
              <a:t>💬 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84831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Moderator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871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⚠️  Warn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712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Formal warning — no immediate restriction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24871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🗑️  Remove Listing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8712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Listing taken down and flagged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24871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🔇  Suspend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28712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Account locked; can't transact or 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015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✅  Resolve Dispute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85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Moderator rules on a disputed transaction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34015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474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❌  Reject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3785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Report unfounded — no action taken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7576" y="3401568"/>
            <a:ext cx="354787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474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🔄  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378561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Suspension lifted or listing re-activated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62272"/>
            <a:ext cx="5257800" cy="1024128"/>
          </a:xfrm>
          <a:prstGeom prst="rect">
            <a:avLst/>
          </a:prstGeom>
          <a:solidFill>
            <a:srgbClr val="FFF9E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526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🤖  Auto-Flagging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1888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System can auto-generate reports on suspicious patterns — feeding the queue without requiring manual user reports.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462272"/>
            <a:ext cx="5257800" cy="1024128"/>
          </a:xfrm>
          <a:prstGeom prst="rect">
            <a:avLst/>
          </a:prstGeom>
          <a:solidFill>
            <a:srgbClr val="F0FDF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526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🛡️  Admin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1888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Separate /admin route for system-level oversight — manage users, listings, and moderation across all communities.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User Roles &amp; Access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Four tiers of access — clear permissions at every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272491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2724912" cy="65836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👁️  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No account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56816"/>
            <a:ext cx="64008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Browse public listings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14016"/>
            <a:ext cx="64008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Full-text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71216"/>
            <a:ext cx="64008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View public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28416"/>
            <a:ext cx="64008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101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Explore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170432"/>
            <a:ext cx="272491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170432"/>
            <a:ext cx="2724912" cy="658368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216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Verified account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9568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938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Create &amp; manage listings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4140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3957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Request transactions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8712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Rate &amp;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3284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3101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Follow users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7856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7673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Join communities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242816"/>
            <a:ext cx="64008" cy="256032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224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1-to-1 messaging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170432"/>
            <a:ext cx="272491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1170432"/>
            <a:ext cx="2724912" cy="658368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216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🔧  Moderator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Elevated community role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9568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938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All User capabilities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24140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3957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Moderation queue access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8712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Warn / remove / suspend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3284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3101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Award community 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7856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7673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Pin posts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242816"/>
            <a:ext cx="64008" cy="256032"/>
          </a:xfrm>
          <a:prstGeom prst="rect">
            <a:avLst/>
          </a:prstGeom>
          <a:solidFill>
            <a:srgbClr val="058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224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Promote / demote 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59" y="1170432"/>
            <a:ext cx="2724912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59" y="1170432"/>
            <a:ext cx="2724912" cy="658368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19" y="1216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Admin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19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1D5DB"/>
                </a:solidFill>
              </a:rPr>
              <a:t>Platform-wide authority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19" y="1956816"/>
            <a:ext cx="64008" cy="256032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19385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Full platform access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19" y="2414016"/>
            <a:ext cx="64008" cy="256032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3957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Admin dashboard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19" y="2871216"/>
            <a:ext cx="64008" cy="256032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28529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System-level moderation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19" y="3328416"/>
            <a:ext cx="64008" cy="256032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26880" y="33101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User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19" y="3785616"/>
            <a:ext cx="64008" cy="256032"/>
          </a:xfrm>
          <a:prstGeom prst="rect">
            <a:avLst/>
          </a:prstGeom>
          <a:solidFill>
            <a:srgbClr val="7C2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76732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Override any action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961888"/>
            <a:ext cx="1133856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01675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59A"/>
                </a:solidFill>
              </a:rPr>
              <a:t>Account lifecycle:  Pending Verification  →  Active  →  Suspended / Deleted  ·  Email verification required before account becomes Active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Business Model &amp; 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How BookBridge creates and captures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87552"/>
            <a:ext cx="109728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59436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25296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Positioning:  BookBridge is a social trust network for book circulation — not a marketplace.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3852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64008" cy="1572768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756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Campus-First Go-to-Market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50592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Launch within universities — where textbook pain is sharpest and community density is highest. Partner with student unions and library programs for rapid distribution.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38528"/>
            <a:ext cx="64008" cy="1572768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07568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Network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50592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Value compounds with every user: more givers → more receivers → more ratings → stronger trust signals → deeper engagement. Classic two-sided network.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64008" cy="1572768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221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9476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Monetisation Paths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9664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Premium verified-seller badge · University partnership licensing · Local business listing sponsorships · API for library system integrations.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64008" cy="1572768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221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F172A"/>
                </a:solidFill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79476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Defensible Moat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169664"/>
            <a:ext cx="4434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Reputation equity. A user's score and community standing can't be transferred to a competitor — switching cost grows with every completed transaction.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778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Price cap enforcement is deliberate — it keeps the platform non-commercial, builds social goodwill, and differentiates BookBridge from generic resale apps.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731520"/>
            <a:ext cx="3657600" cy="3657600"/>
          </a:xfrm>
          <a:prstGeom prst="ellipse">
            <a:avLst/>
          </a:prstGeom>
          <a:solidFill>
            <a:srgbClr val="14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BookBridge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3C5FD"/>
                </a:solidFill>
              </a:rPr>
              <a:t>Share books. Build trust. Keep stories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Community-driven platform for second-hand book circulation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64208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End-to-end transaction state machine with full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Atomic reputation system with tiers and trust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Sub-communities scoped by university, location, and 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Real-time feed, SSE messaging, and 9-kind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59152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7FF"/>
                </a:solidFill>
              </a:rPr>
              <a:t>✓  Structured moderation queue with admin oversight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926080"/>
            <a:ext cx="12188952" cy="45720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27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Next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39312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639312"/>
            <a:ext cx="274320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🚀  Production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7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Run migration on production DB; smoke-test all critical transaction flows on Vercel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3639312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3639312"/>
            <a:ext cx="274320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📧  Email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133087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Wire dispatcher to SendGrid/Resend for immediate, digest, and off preferences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3639312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3639312"/>
            <a:ext cx="274320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📊 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133087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Add event tracking: page views, listing clicks, transaction conversion funnel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4856" y="3639312"/>
            <a:ext cx="274320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3639312"/>
            <a:ext cx="2743200" cy="54864"/>
          </a:xfrm>
          <a:prstGeom prst="rect">
            <a:avLst/>
          </a:prstGeom>
          <a:solidFill>
            <a:srgbClr val="18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6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💳  Monetisation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2016" y="4133087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University partnership pilot — measure engagement before introducing premium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4A3B8"/>
                </a:solidFill>
              </a:rPr>
              <a:t>Built with Next.js 14 · PostgreSQL · Prisma · Vercel  ·  Team Zootopia — 2025 Software Engineering Capstone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93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BookBridge  ·  Business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693408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4A3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