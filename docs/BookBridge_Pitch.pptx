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BookBridge |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6366F1"/>
                </a:solidFill>
                <a:latin typeface="Calibri"/>
              </a:rPr>
              <a:t>BookBridge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  <a:latin typeface="Calibri"/>
              </a:rPr>
              <a:t>A trust-driven book sharing platform for campus communities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9E0B"/>
                </a:solidFill>
                <a:latin typeface="Calibri"/>
              </a:rPr>
              <a:t>SE 2025.2  |  Team Zootopia  |  6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Books are expensive. Sharing is broken.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Books bought once,
shelved forever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5156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Facebook Marketplace
has no trust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5156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Library waitlists
are long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Three exchange modes. One trusted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00584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0"/>
              </a:tblGrid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0B981"/>
                          </a:solidFill>
                          <a:latin typeface="Calibri"/>
                        </a:rPr>
                        <a:t>Gift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Owner gives the book away for free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6366F1"/>
                          </a:solidFill>
                          <a:latin typeface="Calibri"/>
                        </a:rPr>
                        <a:t>Exchange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Owner trades for another book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9E0B"/>
                          </a:solidFill>
                          <a:latin typeface="Calibri"/>
                        </a:rPr>
                        <a:t>Sell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Price capped at 50,000 VND (non-commercial)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4348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59E0B"/>
                </a:solidFill>
                <a:latin typeface="Calibri"/>
              </a:rPr>
              <a:t>The 50,000 VND cap is enforced server-side. Not advisory.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Architecture: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Six modules. One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96012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Identity and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2232" y="96012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42232" y="960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Book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847088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8470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Discovery and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50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34056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3405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Transactions and Messaging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734056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73405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Trust and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369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621024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6210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Community and Ops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0" y="960120"/>
          <a:ext cx="6492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3291840"/>
              </a:tblGrid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 responsibility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Identity and Profile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Person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Auth, sessions, user profiles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Book Catalog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Person 2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Listings CRUD, photos, ISBN lookup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Discovery and Feed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Person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Full-text search, feed, follow graph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Transactions and Messaging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Person 4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State machine, chat, ratings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Trust and Safety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Person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Reputation engine, reports, moderation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5765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Community and Ops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Person 6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Communities, notifications, admin, CI/CD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Transactions: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Eight states. Twelve transitions. Full audit trail.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5760720" cy="4846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669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          [ PENDING ]
    /         |         \
 accept    decline    cancel
   |           |          |
[ACCEPTED] [DECLINED] [CANCELLED]
   |
 ship
   |
[IN_DELIVERY]
  /         \
complete   dispute
  |              |
[COMPLETED] [DISPUTED]
               /      \
           resolve   reject
             |            |
        [COMPLETED] [CANCELLED]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97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9E0B"/>
                </a:solidFill>
                <a:latin typeface="Calibri"/>
              </a:rPr>
              <a:t>14 days: reminder  |  21 days: auto-complete (cron)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36192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Multiple requesters queued chronologically. One accepted, rest waitlisted.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60604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679192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Every transition writes one row to TransactionEvent. Nothing deleted.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74904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822192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Pure state machine logic: 13 unit tests, zero database dependencies.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Trust: Reputation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Four tiers. Earned, not assigned.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834640" cy="9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 to 19
New Member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05840"/>
            <a:ext cx="2834640" cy="914400"/>
          </a:xfrm>
          <a:prstGeom prst="rect">
            <a:avLst/>
          </a:prstGeom>
          <a:solidFill>
            <a:srgbClr val="3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005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 to 49
Active Sharer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283464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005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50 to 79
Trusted Contributor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005840"/>
            <a:ext cx="283464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005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80 to 100
Community Champion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10312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28600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 Change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Transaction 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+10 both parties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5-star rating received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+5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1-star rating received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Report upheld against user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-15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Cancellation (cancelling party)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30 days inactive (cron)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5577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Calibri"/>
              </a:rPr>
              <a:t>Anti-gaming: reciprocal-only pairs and zero-unique-counterparty accounts flagged automatically. Human moderator reviews every flag.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Solution: Price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50,000 VND cap. Three enforcement layers.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005840"/>
            <a:ext cx="91440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005840"/>
            <a:ext cx="8961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Browser form  —  Client disables submit if price exceeds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64208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883664"/>
            <a:ext cx="91440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883664"/>
            <a:ext cx="8961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API route: POST /api/listings  —  Zod schema rejects price above env 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542032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761488"/>
            <a:ext cx="91440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761488"/>
            <a:ext cx="8961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layer: listings/service.ts  —  Second check before Prisma 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419856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639312"/>
            <a:ext cx="91440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639312"/>
            <a:ext cx="8961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Database  —  askingPriceVnd stored for SELL type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297680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517136"/>
            <a:ext cx="91440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517136"/>
            <a:ext cx="8961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Grant reporting  —  Admin CSV shows full transaction price breakdown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7784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Keeps the platform eligible for educational grants (non-commercial mission).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57784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5778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Configurable via SALE_PRICE_CAP_VND environment variable. No code change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Architecture: Real-time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Live notifications and chat. No WebSocket server.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Notifications 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Client opens /api/notifications/stream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Server pushes new Notification rows as they arrive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8892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Fallback: long-polling via GET /api/notifications?wait=1&amp;after=cursor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960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Messaging 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Client opens /api/conversations/[id]/stream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Server pushes new Message rows as they arrive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8892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User sends message via regular POST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657600"/>
            <a:ext cx="7616952" cy="68580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3657600"/>
            <a:ext cx="7434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One-way push via HTTP. Native reconnect. No broker required.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9E0B"/>
                </a:solidFill>
                <a:latin typeface="Calibri"/>
              </a:rPr>
              <a:t>Vercel free tier: 60-second function timeout, client reconnects automatically. Pro tier: maxDuration=300.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Standard cloud. No proprietary dependencies.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667512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GitHub push to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667512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GitHub Actions CI:
npm ci, prisma migrate deploy, tsc, vitest, next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97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71800"/>
            <a:ext cx="667512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Vercel:
pages, API routes, SSE streams, cron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03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77640"/>
            <a:ext cx="667512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4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Managed PostgreSQL (Supabase / Neon / Vercel Postgres)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091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983480"/>
            <a:ext cx="667512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98348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S3-compatible bucket (Cloudflare R2 / AWS S3)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0" y="96012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210312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4548C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/api/cron/transactions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14-day reminder, 21-day auto-complete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/api/cron/reputation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Time decay, anti-gaming scan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/api/cron/notification-digest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Email digest for DAILY preference users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/api/cron/notification-immediate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every 5 min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Immediate email delivery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152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Performance 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526280"/>
            <a:ext cx="2148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45262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Page load &lt; 3s on 4G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4526280"/>
            <a:ext cx="2148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45262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Search p95 &lt; 2s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66360"/>
            <a:ext cx="2148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5166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1,000+ concurrent 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5166360"/>
            <a:ext cx="2148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5166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99.5% uptime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Module 1: Identity and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Module 1: Identity and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1F5F9"/>
                </a:solidFill>
                <a:latin typeface="Calibri"/>
              </a:rPr>
              <a:t>Every other module depends on this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Register flow: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1430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Register  -&gt;  Argon2id hash  -&gt;  Email verification token (72h TTL)  -&gt; 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Login flow: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60320"/>
            <a:ext cx="11430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Login  -&gt;  iron-session cookie (signed, AES-encrypted, httpOnly, sameSite=lax)  -&gt;  30-minute sliding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Password reset flow: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520440"/>
            <a:ext cx="11430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Password reset  -&gt;  Token (1h TTL)  -&gt;  new 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Public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66344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0B101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5394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getCurrentUser(): Promise&lt;User | null&gt;
requireUser(): Promise&lt;User&gt;
requireRole(...roles): Promise&lt;User&gt;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9768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Argon2id:  memory-hard, GPU-resistant, PHC 2015 winner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Constant-time login:  dummy hash run even when email not found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57784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5778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Rate limit:  5 attempts per 15 minutes per 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Module 2: Book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Module 2: Book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1F5F9"/>
                </a:solidFill>
                <a:latin typeface="Calibri"/>
              </a:rPr>
              <a:t>The inventory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59436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Create listing (title, author, ISBN, condition, 1-5 photos, type, price)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29968"/>
            <a:ext cx="59436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ISBN auto-fill via Open Library API (fallback: manual entry)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3288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34056"/>
            <a:ext cx="59436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3405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Price cap check (SELL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369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438144"/>
            <a:ext cx="59436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3814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Photos normalised to WebP 1024px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410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42232"/>
            <a:ext cx="59436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4223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ACTIVE listing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Listing status transitions: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691640"/>
            <a:ext cx="15544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1691640"/>
            <a:ext cx="15544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RESERVED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1691640"/>
            <a:ext cx="15544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COMPLETED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331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ACTIVE  -&gt;  UNAVAILABLE (hidden by owner)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697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ACTIVE  -&gt;  REMOVED (deleted or moderated, soft delete)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114800"/>
            <a:ext cx="11430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14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Edit blocked when transaction is ACCEPTED or IN_DELIVERY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709160"/>
            <a:ext cx="11430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09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Pending requesters notified if listing details change while PENDING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303520"/>
            <a:ext cx="11430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303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Soft delete preserves audit log for transaction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Module 3: Discovery and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Module 3: Discovery and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1F5F9"/>
                </a:solidFill>
                <a:latin typeface="Calibri"/>
              </a:rPr>
              <a:t>How readers find books and follow each 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5577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Query  -&gt;  Zod param validation  -&gt;  PostgreSQL full-text search (tsvector + GIN index)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59152"/>
            <a:ext cx="5577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ts_rank weights: title A &gt; author B &gt; description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80944"/>
            <a:ext cx="5577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8094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Filters: genre AND condition AND transactionType AND maxPrice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02736"/>
            <a:ext cx="5577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0273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Cursor-based pagination (not offset)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24528"/>
            <a:ext cx="557784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2452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Benchmark: GIN index drops search from 200ms to 5ms on 1,000 listings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Feed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73736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User A follows User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359152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3591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User B publishes listing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80944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80944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Fan-out writes FeedItem for User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02736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60273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User A opens feed  -&gt;  sees new listing in real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24528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245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FeedItem index: (userId, createdAt) for fast paginated reads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Module 4: Transactions and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Module 4: Transactions and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1F5F9"/>
                </a:solidFill>
                <a:latin typeface="Calibri"/>
              </a:rPr>
              <a:t>The most complex module. The core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Transaction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557784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Request  -&gt;  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95728"/>
            <a:ext cx="557784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Owner accepts one  -&gt;  ACCEPTED, rest  -&gt;  WAITLISTED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054096"/>
            <a:ext cx="557784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Ship  -&gt;  IN_DELIVERY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12464"/>
            <a:ext cx="557784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12464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Confirm  -&gt;  COMPLETED  -&gt;  both rate  -&gt;  ReputationEvent emitted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370832"/>
            <a:ext cx="557784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7083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Dispute  -&gt;  DISPUTED  -&gt;  moderator  -&gt;  COMPLETED or CANCELLED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Messaging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737360"/>
            <a:ext cx="548640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Transaction accepted  -&gt;  Conversation created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395728"/>
            <a:ext cx="548640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39572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POST message  -&gt;  database write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054096"/>
            <a:ext cx="548640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054096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SSE stream pushes to other client in real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12464"/>
            <a:ext cx="5486400" cy="56692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12464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Message tied to transaction ID for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2064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Architecture note: State machine is a pure function. Takes state + action, returns next state or throws. 13 tests, zero DB dependencies.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Module 5: Trust and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Module 5: Trust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1F5F9"/>
                </a:solidFill>
                <a:latin typeface="Calibri"/>
              </a:rPr>
              <a:t>What makes BookBridge different from Facebook Marketplace.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Reputation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557784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Transaction event emitted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50008"/>
            <a:ext cx="557784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ReputationEvent written (atomic with transaction)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62656"/>
            <a:ext cx="557784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62656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User.reputationScore updated (denormalised cache)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575304"/>
            <a:ext cx="557784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75304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Tier recalculated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87952"/>
            <a:ext cx="557784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87952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Notification if tier 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Moderation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73736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User files report (user / listing / transaction / message)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42316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Report row PENDING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0896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1089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Moderator opens queue (community-scoped or admin global)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9476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947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Action: WARN, REMOVE_LISTING, SUSPEND_USER, RESTORE,
RESOLVE_DISPUTE, REJECT_DISPUTE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48056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4805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ModerationAction row written (full audit trail)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257800"/>
            <a:ext cx="114300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9E0B"/>
                </a:solidFill>
                <a:latin typeface="Calibri"/>
              </a:rPr>
              <a:t>Anti-gaming cron: scan for reciprocal-only pairs and zero-unique-counterparty accounts. Flag only. Human reviews every case.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Module 6: Community and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Module 6: Community and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1F5F9"/>
                </a:solidFill>
                <a:latin typeface="Calibri"/>
              </a:rPr>
              <a:t>The connective tissue. Everything routes through 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Communities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737360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Scope: UNIVERSITY / LOCATION / GENRE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487168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Max 20 communities per user (server-enforced)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236976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3697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Listings can be scoped to one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325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Notification Dispatcher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737360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Subscribes to events from all 5 other modules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487168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8716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Routes to in-app Notification row + email (based on user preference)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236976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23697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Email preferences: IMMEDIATE (5 min cron), DAILY (digest),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325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Admin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737360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3736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Active users, completed transactions, books circulated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487168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8716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Pending moderation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236976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23697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Grant report CSV export (date range filter, OWASP CSV-injection safe)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986784"/>
            <a:ext cx="36576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98678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CI/CD: GitHub Actions on every push, auto-deploy to Vercel on green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Calibri"/>
              </a:rPr>
              <a:t>13 entities. One source of truth per concept.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0" y="100584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005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8229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22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82880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Listing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83464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Follow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4048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FeedItem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38912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ReputationEvent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8229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822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CommunityMembership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83464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Notification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9377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ListingPhoto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49377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Transaction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9377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TransactionEvent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49377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Rating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49377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Conversation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384048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Message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84048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ModerationAction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9377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Community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10058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•  User.reputationScore is a denormalised cache. ReputationEvent is the source of truth.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14630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•  TransactionEvent is append-only. Every state transition preserved permanently.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19202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•  FeedItem.payload and Notification.payload are JSON. New event types need no migration.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23774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•  onDelete: Cascade for owner-scoped data. onDelete: SetNull for cross-module soft links.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73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366F1"/>
                </a:solidFill>
                <a:latin typeface="Calibr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6366F1"/>
                </a:solidFill>
                <a:latin typeface="Calibri"/>
              </a:rPr>
              <a:t>BookBridge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Trust at every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  <a:latin typeface="Calibri"/>
              </a:rPr>
              <a:t>Reputation tiers, anti-gaming, moderation queue, full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194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Non-commercial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  <a:latin typeface="Calibri"/>
              </a:rPr>
              <a:t>50,000 VND cap, no payment processing, grant-eligible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94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Standard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  <a:latin typeface="Calibri"/>
              </a:rPr>
              <a:t>Next.js + PostgreSQL + Vercel, deployable anywhere Node 20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9E0B"/>
                </a:solidFill>
                <a:latin typeface="Calibri"/>
              </a:rPr>
              <a:t>Aligned with UN SDG 4 (Quality Education) and SDG 12 (Responsible Consumption)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